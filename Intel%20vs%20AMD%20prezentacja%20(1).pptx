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7"/>
  </p:notesMasterIdLst>
  <p:handoutMasterIdLst>
    <p:handoutMasterId r:id="rId28"/>
  </p:handoutMasterIdLst>
  <p:sldIdLst>
    <p:sldId id="256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60" r:id="rId26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62D636-57E6-4C1E-A3E4-5994AA188F40}" v="138" dt="2026-03-22T19:26:13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>
        <p:scale>
          <a:sx n="100" d="100"/>
          <a:sy n="100" d="100"/>
        </p:scale>
        <p:origin x="99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Łukasz Radomski" userId="ab9b570ad7ab5f43" providerId="LiveId" clId="{FCD29266-852A-4FE5-92A5-550CEF8A2988}"/>
    <pc:docChg chg="undo custSel addSld delSld modSld sldOrd">
      <pc:chgData name="Łukasz Radomski" userId="ab9b570ad7ab5f43" providerId="LiveId" clId="{FCD29266-852A-4FE5-92A5-550CEF8A2988}" dt="2026-03-27T10:24:49.595" v="1702" actId="20577"/>
      <pc:docMkLst>
        <pc:docMk/>
      </pc:docMkLst>
      <pc:sldChg chg="modTransition">
        <pc:chgData name="Łukasz Radomski" userId="ab9b570ad7ab5f43" providerId="LiveId" clId="{FCD29266-852A-4FE5-92A5-550CEF8A2988}" dt="2026-03-22T19:26:13.412" v="1638"/>
        <pc:sldMkLst>
          <pc:docMk/>
          <pc:sldMk cId="1487700712" sldId="256"/>
        </pc:sldMkLst>
      </pc:sldChg>
      <pc:sldChg chg="modTransition">
        <pc:chgData name="Łukasz Radomski" userId="ab9b570ad7ab5f43" providerId="LiveId" clId="{FCD29266-852A-4FE5-92A5-550CEF8A2988}" dt="2026-03-22T19:25:58.062" v="1635"/>
        <pc:sldMkLst>
          <pc:docMk/>
          <pc:sldMk cId="497607547" sldId="258"/>
        </pc:sldMkLst>
      </pc:sldChg>
      <pc:sldChg chg="addSp modSp mod modTransition">
        <pc:chgData name="Łukasz Radomski" userId="ab9b570ad7ab5f43" providerId="LiveId" clId="{FCD29266-852A-4FE5-92A5-550CEF8A2988}" dt="2026-03-27T10:24:49.595" v="1702" actId="20577"/>
        <pc:sldMkLst>
          <pc:docMk/>
          <pc:sldMk cId="3501347425" sldId="260"/>
        </pc:sldMkLst>
        <pc:spChg chg="mod">
          <ac:chgData name="Łukasz Radomski" userId="ab9b570ad7ab5f43" providerId="LiveId" clId="{FCD29266-852A-4FE5-92A5-550CEF8A2988}" dt="2026-03-22T19:24:02.474" v="1574" actId="1076"/>
          <ac:spMkLst>
            <pc:docMk/>
            <pc:sldMk cId="3501347425" sldId="260"/>
            <ac:spMk id="3" creationId="{A9CB511D-EA45-4336-847C-1252667143B5}"/>
          </ac:spMkLst>
        </pc:spChg>
        <pc:spChg chg="add mod">
          <ac:chgData name="Łukasz Radomski" userId="ab9b570ad7ab5f43" providerId="LiveId" clId="{FCD29266-852A-4FE5-92A5-550CEF8A2988}" dt="2026-03-27T10:24:49.595" v="1702" actId="20577"/>
          <ac:spMkLst>
            <pc:docMk/>
            <pc:sldMk cId="3501347425" sldId="260"/>
            <ac:spMk id="4" creationId="{5820A217-855F-170E-87DA-3732D8AB48D3}"/>
          </ac:spMkLst>
        </pc:spChg>
      </pc:sldChg>
      <pc:sldChg chg="modSp mod modTransition">
        <pc:chgData name="Łukasz Radomski" userId="ab9b570ad7ab5f43" providerId="LiveId" clId="{FCD29266-852A-4FE5-92A5-550CEF8A2988}" dt="2026-03-27T10:11:32.477" v="1644" actId="20577"/>
        <pc:sldMkLst>
          <pc:docMk/>
          <pc:sldMk cId="40387943" sldId="261"/>
        </pc:sldMkLst>
        <pc:spChg chg="mod">
          <ac:chgData name="Łukasz Radomski" userId="ab9b570ad7ab5f43" providerId="LiveId" clId="{FCD29266-852A-4FE5-92A5-550CEF8A2988}" dt="2026-03-27T10:11:32.477" v="1644" actId="20577"/>
          <ac:spMkLst>
            <pc:docMk/>
            <pc:sldMk cId="40387943" sldId="261"/>
            <ac:spMk id="7" creationId="{BB81C48A-D68D-2959-0419-C9AB7699E9D4}"/>
          </ac:spMkLst>
        </pc:spChg>
        <pc:spChg chg="mod">
          <ac:chgData name="Łukasz Radomski" userId="ab9b570ad7ab5f43" providerId="LiveId" clId="{FCD29266-852A-4FE5-92A5-550CEF8A2988}" dt="2026-03-22T18:44:48.596" v="1" actId="2711"/>
          <ac:spMkLst>
            <pc:docMk/>
            <pc:sldMk cId="40387943" sldId="261"/>
            <ac:spMk id="8" creationId="{D8487EE1-F83F-766E-C083-B56B19B27EC6}"/>
          </ac:spMkLst>
        </pc:spChg>
      </pc:sldChg>
      <pc:sldChg chg="addSp delSp modSp add mod modTransition">
        <pc:chgData name="Łukasz Radomski" userId="ab9b570ad7ab5f43" providerId="LiveId" clId="{FCD29266-852A-4FE5-92A5-550CEF8A2988}" dt="2026-03-22T19:25:58.062" v="1635"/>
        <pc:sldMkLst>
          <pc:docMk/>
          <pc:sldMk cId="3108681901" sldId="262"/>
        </pc:sldMkLst>
        <pc:spChg chg="mod">
          <ac:chgData name="Łukasz Radomski" userId="ab9b570ad7ab5f43" providerId="LiveId" clId="{FCD29266-852A-4FE5-92A5-550CEF8A2988}" dt="2026-03-22T18:45:28.575" v="44" actId="20577"/>
          <ac:spMkLst>
            <pc:docMk/>
            <pc:sldMk cId="3108681901" sldId="262"/>
            <ac:spMk id="2" creationId="{4426BFD4-8D9B-B6D9-65C1-21CA5685BA1C}"/>
          </ac:spMkLst>
        </pc:spChg>
        <pc:spChg chg="add mod">
          <ac:chgData name="Łukasz Radomski" userId="ab9b570ad7ab5f43" providerId="LiveId" clId="{FCD29266-852A-4FE5-92A5-550CEF8A2988}" dt="2026-03-22T18:47:36.086" v="95" actId="20577"/>
          <ac:spMkLst>
            <pc:docMk/>
            <pc:sldMk cId="3108681901" sldId="262"/>
            <ac:spMk id="3" creationId="{B9F4C315-9132-072F-E774-82BE439A4FF8}"/>
          </ac:spMkLst>
        </pc:spChg>
        <pc:spChg chg="mod">
          <ac:chgData name="Łukasz Radomski" userId="ab9b570ad7ab5f43" providerId="LiveId" clId="{FCD29266-852A-4FE5-92A5-550CEF8A2988}" dt="2026-03-22T18:46:25.304" v="76" actId="1076"/>
          <ac:spMkLst>
            <pc:docMk/>
            <pc:sldMk cId="3108681901" sldId="262"/>
            <ac:spMk id="8" creationId="{8F26158A-7A39-1EB6-E734-0343464EDCA1}"/>
          </ac:spMkLst>
        </pc:spChg>
      </pc:sldChg>
      <pc:sldChg chg="modSp add mod modTransition">
        <pc:chgData name="Łukasz Radomski" userId="ab9b570ad7ab5f43" providerId="LiveId" clId="{FCD29266-852A-4FE5-92A5-550CEF8A2988}" dt="2026-03-22T19:25:58.062" v="1635"/>
        <pc:sldMkLst>
          <pc:docMk/>
          <pc:sldMk cId="10776187" sldId="263"/>
        </pc:sldMkLst>
        <pc:spChg chg="mod">
          <ac:chgData name="Łukasz Radomski" userId="ab9b570ad7ab5f43" providerId="LiveId" clId="{FCD29266-852A-4FE5-92A5-550CEF8A2988}" dt="2026-03-22T18:51:16.518" v="171" actId="20577"/>
          <ac:spMkLst>
            <pc:docMk/>
            <pc:sldMk cId="10776187" sldId="263"/>
            <ac:spMk id="3" creationId="{5B65B6FF-F4E5-8BA2-7146-22C8F98C3DFF}"/>
          </ac:spMkLst>
        </pc:spChg>
        <pc:spChg chg="mod">
          <ac:chgData name="Łukasz Radomski" userId="ab9b570ad7ab5f43" providerId="LiveId" clId="{FCD29266-852A-4FE5-92A5-550CEF8A2988}" dt="2026-03-22T18:48:42.135" v="133" actId="1076"/>
          <ac:spMkLst>
            <pc:docMk/>
            <pc:sldMk cId="10776187" sldId="263"/>
            <ac:spMk id="8" creationId="{5A13B730-2C13-A8F9-CBEC-875E21C13E7C}"/>
          </ac:spMkLst>
        </pc:spChg>
      </pc:sldChg>
      <pc:sldChg chg="modSp add mod modTransition">
        <pc:chgData name="Łukasz Radomski" userId="ab9b570ad7ab5f43" providerId="LiveId" clId="{FCD29266-852A-4FE5-92A5-550CEF8A2988}" dt="2026-03-22T19:25:58.062" v="1635"/>
        <pc:sldMkLst>
          <pc:docMk/>
          <pc:sldMk cId="1360230690" sldId="264"/>
        </pc:sldMkLst>
        <pc:spChg chg="mod">
          <ac:chgData name="Łukasz Radomski" userId="ab9b570ad7ab5f43" providerId="LiveId" clId="{FCD29266-852A-4FE5-92A5-550CEF8A2988}" dt="2026-03-22T18:52:13.227" v="190" actId="1076"/>
          <ac:spMkLst>
            <pc:docMk/>
            <pc:sldMk cId="1360230690" sldId="264"/>
            <ac:spMk id="8" creationId="{3060C215-3111-C5D2-DC15-ECCF18B8FFFE}"/>
          </ac:spMkLst>
        </pc:spChg>
      </pc:sldChg>
      <pc:sldChg chg="addSp delSp modSp add mod modTransition setBg">
        <pc:chgData name="Łukasz Radomski" userId="ab9b570ad7ab5f43" providerId="LiveId" clId="{FCD29266-852A-4FE5-92A5-550CEF8A2988}" dt="2026-03-22T19:25:58.062" v="1635"/>
        <pc:sldMkLst>
          <pc:docMk/>
          <pc:sldMk cId="984890910" sldId="265"/>
        </pc:sldMkLst>
        <pc:spChg chg="mod or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" creationId="{126E081B-B1F6-D1E0-9B2A-80FCD885C083}"/>
          </ac:spMkLst>
        </pc:spChg>
        <pc:spChg chg="add mod">
          <ac:chgData name="Łukasz Radomski" userId="ab9b570ad7ab5f43" providerId="LiveId" clId="{FCD29266-852A-4FE5-92A5-550CEF8A2988}" dt="2026-03-22T18:55:58.802" v="338" actId="1076"/>
          <ac:spMkLst>
            <pc:docMk/>
            <pc:sldMk cId="984890910" sldId="265"/>
            <ac:spMk id="9" creationId="{CCC477A4-EAC7-80DA-FCA7-4600182FE490}"/>
          </ac:spMkLst>
        </pc:spChg>
        <pc:spChg chg="ad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4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5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6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7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8" creationId="{5CC2B463-6BD5-411E-A3CA-67A9FE00313A}"/>
          </ac:spMkLst>
        </pc:spChg>
        <pc:spChg chg="add">
          <ac:chgData name="Łukasz Radomski" userId="ab9b570ad7ab5f43" providerId="LiveId" clId="{FCD29266-852A-4FE5-92A5-550CEF8A2988}" dt="2026-03-22T18:54:54.910" v="258" actId="26606"/>
          <ac:spMkLst>
            <pc:docMk/>
            <pc:sldMk cId="984890910" sldId="265"/>
            <ac:spMk id="29" creationId="{E83E6F24-3E64-4893-9F13-7BEE01C841E4}"/>
          </ac:spMkLst>
        </pc:spChg>
        <pc:picChg chg="add mod">
          <ac:chgData name="Łukasz Radomski" userId="ab9b570ad7ab5f43" providerId="LiveId" clId="{FCD29266-852A-4FE5-92A5-550CEF8A2988}" dt="2026-03-22T18:54:54.910" v="258" actId="26606"/>
          <ac:picMkLst>
            <pc:docMk/>
            <pc:sldMk cId="984890910" sldId="265"/>
            <ac:picMk id="7" creationId="{EB054201-D560-698E-9B73-6DFCE7023BE1}"/>
          </ac:picMkLst>
        </pc:picChg>
        <pc:cxnChg chg="add mod">
          <ac:chgData name="Łukasz Radomski" userId="ab9b570ad7ab5f43" providerId="LiveId" clId="{FCD29266-852A-4FE5-92A5-550CEF8A2988}" dt="2026-03-22T18:56:20.732" v="341" actId="1076"/>
          <ac:cxnSpMkLst>
            <pc:docMk/>
            <pc:sldMk cId="984890910" sldId="265"/>
            <ac:cxnSpMk id="11" creationId="{C4F912AA-533D-CF00-8DA0-225DC9023F5A}"/>
          </ac:cxnSpMkLst>
        </pc:cxnChg>
      </pc:sldChg>
      <pc:sldChg chg="delSp modSp add mod ord modTransition">
        <pc:chgData name="Łukasz Radomski" userId="ab9b570ad7ab5f43" providerId="LiveId" clId="{FCD29266-852A-4FE5-92A5-550CEF8A2988}" dt="2026-03-22T19:25:58.062" v="1635"/>
        <pc:sldMkLst>
          <pc:docMk/>
          <pc:sldMk cId="1107114443" sldId="266"/>
        </pc:sldMkLst>
        <pc:spChg chg="mod">
          <ac:chgData name="Łukasz Radomski" userId="ab9b570ad7ab5f43" providerId="LiveId" clId="{FCD29266-852A-4FE5-92A5-550CEF8A2988}" dt="2026-03-22T18:57:03.728" v="361" actId="20577"/>
          <ac:spMkLst>
            <pc:docMk/>
            <pc:sldMk cId="1107114443" sldId="266"/>
            <ac:spMk id="2" creationId="{48ACB93D-770C-F3E2-3DA8-916EB61F27CE}"/>
          </ac:spMkLst>
        </pc:spChg>
        <pc:spChg chg="mod">
          <ac:chgData name="Łukasz Radomski" userId="ab9b570ad7ab5f43" providerId="LiveId" clId="{FCD29266-852A-4FE5-92A5-550CEF8A2988}" dt="2026-03-22T18:57:48.672" v="368" actId="123"/>
          <ac:spMkLst>
            <pc:docMk/>
            <pc:sldMk cId="1107114443" sldId="266"/>
            <ac:spMk id="3" creationId="{545251AB-FCBB-48E9-2E1D-9E674E90FA2D}"/>
          </ac:spMkLst>
        </pc:spChg>
      </pc:sldChg>
      <pc:sldChg chg="addSp delSp modSp add mod modTransition setBg addAnim">
        <pc:chgData name="Łukasz Radomski" userId="ab9b570ad7ab5f43" providerId="LiveId" clId="{FCD29266-852A-4FE5-92A5-550CEF8A2988}" dt="2026-03-22T19:25:58.062" v="1635"/>
        <pc:sldMkLst>
          <pc:docMk/>
          <pc:sldMk cId="3505924457" sldId="267"/>
        </pc:sldMkLst>
        <pc:spChg chg="mod">
          <ac:chgData name="Łukasz Radomski" userId="ab9b570ad7ab5f43" providerId="LiveId" clId="{FCD29266-852A-4FE5-92A5-550CEF8A2988}" dt="2026-03-22T18:59:41.618" v="623" actId="1076"/>
          <ac:spMkLst>
            <pc:docMk/>
            <pc:sldMk cId="3505924457" sldId="267"/>
            <ac:spMk id="2" creationId="{4517DA32-9EFB-3CD8-14DF-D474FA5053C2}"/>
          </ac:spMkLst>
        </pc:spChg>
        <pc:spChg chg="add mod">
          <ac:chgData name="Łukasz Radomski" userId="ab9b570ad7ab5f43" providerId="LiveId" clId="{FCD29266-852A-4FE5-92A5-550CEF8A2988}" dt="2026-03-22T19:00:13.044" v="635" actId="1076"/>
          <ac:spMkLst>
            <pc:docMk/>
            <pc:sldMk cId="3505924457" sldId="267"/>
            <ac:spMk id="5" creationId="{F1269C4C-6073-E075-5DBD-7B1156C3B3AF}"/>
          </ac:spMkLst>
        </pc:spChg>
        <pc:spChg chg="add">
          <ac:chgData name="Łukasz Radomski" userId="ab9b570ad7ab5f43" providerId="LiveId" clId="{FCD29266-852A-4FE5-92A5-550CEF8A2988}" dt="2026-03-22T18:58:52.255" v="413" actId="26606"/>
          <ac:spMkLst>
            <pc:docMk/>
            <pc:sldMk cId="3505924457" sldId="267"/>
            <ac:spMk id="8" creationId="{A078A52F-85EA-4C0B-962B-D9D9DD4DD78C}"/>
          </ac:spMkLst>
        </pc:spChg>
        <pc:spChg chg="add">
          <ac:chgData name="Łukasz Radomski" userId="ab9b570ad7ab5f43" providerId="LiveId" clId="{FCD29266-852A-4FE5-92A5-550CEF8A2988}" dt="2026-03-22T18:58:52.255" v="413" actId="26606"/>
          <ac:spMkLst>
            <pc:docMk/>
            <pc:sldMk cId="3505924457" sldId="267"/>
            <ac:spMk id="10" creationId="{919797D5-5700-4683-B30A-5B4D56CB8270}"/>
          </ac:spMkLst>
        </pc:spChg>
        <pc:spChg chg="add">
          <ac:chgData name="Łukasz Radomski" userId="ab9b570ad7ab5f43" providerId="LiveId" clId="{FCD29266-852A-4FE5-92A5-550CEF8A2988}" dt="2026-03-22T18:58:52.255" v="413" actId="26606"/>
          <ac:spMkLst>
            <pc:docMk/>
            <pc:sldMk cId="3505924457" sldId="267"/>
            <ac:spMk id="12" creationId="{4856A7B9-9801-42EC-A4C9-7E22A56EF53D}"/>
          </ac:spMkLst>
        </pc:spChg>
        <pc:spChg chg="add">
          <ac:chgData name="Łukasz Radomski" userId="ab9b570ad7ab5f43" providerId="LiveId" clId="{FCD29266-852A-4FE5-92A5-550CEF8A2988}" dt="2026-03-22T18:58:52.255" v="413" actId="26606"/>
          <ac:spMkLst>
            <pc:docMk/>
            <pc:sldMk cId="3505924457" sldId="267"/>
            <ac:spMk id="14" creationId="{8AD54DB8-C150-4290-85D6-F5B0262BFEEF}"/>
          </ac:spMkLst>
        </pc:spChg>
        <pc:spChg chg="add">
          <ac:chgData name="Łukasz Radomski" userId="ab9b570ad7ab5f43" providerId="LiveId" clId="{FCD29266-852A-4FE5-92A5-550CEF8A2988}" dt="2026-03-22T18:58:52.255" v="413" actId="26606"/>
          <ac:spMkLst>
            <pc:docMk/>
            <pc:sldMk cId="3505924457" sldId="267"/>
            <ac:spMk id="16" creationId="{17C35B5F-59FB-4E4A-A4E6-85CC504D7918}"/>
          </ac:spMkLst>
        </pc:spChg>
        <pc:grpChg chg="add">
          <ac:chgData name="Łukasz Radomski" userId="ab9b570ad7ab5f43" providerId="LiveId" clId="{FCD29266-852A-4FE5-92A5-550CEF8A2988}" dt="2026-03-22T18:58:52.255" v="413" actId="26606"/>
          <ac:grpSpMkLst>
            <pc:docMk/>
            <pc:sldMk cId="3505924457" sldId="267"/>
            <ac:grpSpMk id="18" creationId="{266203B4-6411-4E9D-AAC1-D798EF7311A2}"/>
          </ac:grpSpMkLst>
        </pc:grpChg>
        <pc:picChg chg="add mod">
          <ac:chgData name="Łukasz Radomski" userId="ab9b570ad7ab5f43" providerId="LiveId" clId="{FCD29266-852A-4FE5-92A5-550CEF8A2988}" dt="2026-03-22T19:00:52.160" v="855"/>
          <ac:picMkLst>
            <pc:docMk/>
            <pc:sldMk cId="3505924457" sldId="267"/>
            <ac:picMk id="4" creationId="{83E86F10-BAB3-08F4-F2BF-442BE3FE06C4}"/>
          </ac:picMkLst>
        </pc:picChg>
      </pc:sldChg>
      <pc:sldChg chg="addSp modSp add mod ord modTransition setBg">
        <pc:chgData name="Łukasz Radomski" userId="ab9b570ad7ab5f43" providerId="LiveId" clId="{FCD29266-852A-4FE5-92A5-550CEF8A2988}" dt="2026-03-27T10:16:34.751" v="1645" actId="20577"/>
        <pc:sldMkLst>
          <pc:docMk/>
          <pc:sldMk cId="814839729" sldId="268"/>
        </pc:sldMkLst>
        <pc:spChg chg="mod">
          <ac:chgData name="Łukasz Radomski" userId="ab9b570ad7ab5f43" providerId="LiveId" clId="{FCD29266-852A-4FE5-92A5-550CEF8A2988}" dt="2026-03-22T19:03:59.485" v="915" actId="122"/>
          <ac:spMkLst>
            <pc:docMk/>
            <pc:sldMk cId="814839729" sldId="268"/>
            <ac:spMk id="2" creationId="{B2351C07-BBB7-41FC-A861-A4995D05E628}"/>
          </ac:spMkLst>
        </pc:spChg>
        <pc:spChg chg="mod">
          <ac:chgData name="Łukasz Radomski" userId="ab9b570ad7ab5f43" providerId="LiveId" clId="{FCD29266-852A-4FE5-92A5-550CEF8A2988}" dt="2026-03-27T10:16:34.751" v="1645" actId="20577"/>
          <ac:spMkLst>
            <pc:docMk/>
            <pc:sldMk cId="814839729" sldId="268"/>
            <ac:spMk id="3" creationId="{DFF7A668-C3FD-8ABD-89D9-6B7CF412CB15}"/>
          </ac:spMkLst>
        </pc:spChg>
        <pc:spChg chg="add">
          <ac:chgData name="Łukasz Radomski" userId="ab9b570ad7ab5f43" providerId="LiveId" clId="{FCD29266-852A-4FE5-92A5-550CEF8A2988}" dt="2026-03-22T19:01:55.761" v="888" actId="26606"/>
          <ac:spMkLst>
            <pc:docMk/>
            <pc:sldMk cId="814839729" sldId="268"/>
            <ac:spMk id="10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01:55.761" v="888" actId="26606"/>
          <ac:spMkLst>
            <pc:docMk/>
            <pc:sldMk cId="814839729" sldId="268"/>
            <ac:spMk id="12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01:55.761" v="888" actId="26606"/>
          <ac:spMkLst>
            <pc:docMk/>
            <pc:sldMk cId="814839729" sldId="268"/>
            <ac:spMk id="14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01:55.761" v="888" actId="26606"/>
          <ac:spMkLst>
            <pc:docMk/>
            <pc:sldMk cId="814839729" sldId="268"/>
            <ac:spMk id="16" creationId="{A926A64B-3BCB-44CC-892E-C791C324B7F0}"/>
          </ac:spMkLst>
        </pc:spChg>
        <pc:spChg chg="add">
          <ac:chgData name="Łukasz Radomski" userId="ab9b570ad7ab5f43" providerId="LiveId" clId="{FCD29266-852A-4FE5-92A5-550CEF8A2988}" dt="2026-03-22T19:01:55.761" v="888" actId="26606"/>
          <ac:spMkLst>
            <pc:docMk/>
            <pc:sldMk cId="814839729" sldId="268"/>
            <ac:spMk id="18" creationId="{8F404549-B4DC-481C-926C-DED3EF1C585B}"/>
          </ac:spMkLst>
        </pc:spChg>
        <pc:spChg chg="add">
          <ac:chgData name="Łukasz Radomski" userId="ab9b570ad7ab5f43" providerId="LiveId" clId="{FCD29266-852A-4FE5-92A5-550CEF8A2988}" dt="2026-03-22T19:01:55.761" v="888" actId="26606"/>
          <ac:spMkLst>
            <pc:docMk/>
            <pc:sldMk cId="814839729" sldId="268"/>
            <ac:spMk id="20" creationId="{1E8FD5CD-351E-4B06-8B78-BD5102D00908}"/>
          </ac:spMkLst>
        </pc:spChg>
        <pc:picChg chg="add">
          <ac:chgData name="Łukasz Radomski" userId="ab9b570ad7ab5f43" providerId="LiveId" clId="{FCD29266-852A-4FE5-92A5-550CEF8A2988}" dt="2026-03-22T19:01:55.761" v="888" actId="26606"/>
          <ac:picMkLst>
            <pc:docMk/>
            <pc:sldMk cId="814839729" sldId="268"/>
            <ac:picMk id="7" creationId="{8481BA99-66CF-9B94-0093-1D13D19EC49A}"/>
          </ac:picMkLst>
        </pc:picChg>
      </pc:sldChg>
      <pc:sldChg chg="addSp delSp modSp add mod ord modTransition setBg">
        <pc:chgData name="Łukasz Radomski" userId="ab9b570ad7ab5f43" providerId="LiveId" clId="{FCD29266-852A-4FE5-92A5-550CEF8A2988}" dt="2026-03-22T19:25:58.062" v="1635"/>
        <pc:sldMkLst>
          <pc:docMk/>
          <pc:sldMk cId="4050403529" sldId="269"/>
        </pc:sldMkLst>
        <pc:spChg chg="mod">
          <ac:chgData name="Łukasz Radomski" userId="ab9b570ad7ab5f43" providerId="LiveId" clId="{FCD29266-852A-4FE5-92A5-550CEF8A2988}" dt="2026-03-22T19:05:35.164" v="984" actId="14100"/>
          <ac:spMkLst>
            <pc:docMk/>
            <pc:sldMk cId="4050403529" sldId="269"/>
            <ac:spMk id="2" creationId="{473639B6-F0F0-6BC8-B920-8CC257E2CAB5}"/>
          </ac:spMkLst>
        </pc:spChg>
        <pc:spChg chg="add mod">
          <ac:chgData name="Łukasz Radomski" userId="ab9b570ad7ab5f43" providerId="LiveId" clId="{FCD29266-852A-4FE5-92A5-550CEF8A2988}" dt="2026-03-22T19:06:18.144" v="1045" actId="1076"/>
          <ac:spMkLst>
            <pc:docMk/>
            <pc:sldMk cId="4050403529" sldId="269"/>
            <ac:spMk id="4" creationId="{0C8822D4-D49D-2C3E-F453-7173DBEBBC2F}"/>
          </ac:spMkLst>
        </pc:spChg>
        <pc:spChg chg="add">
          <ac:chgData name="Łukasz Radomski" userId="ab9b570ad7ab5f43" providerId="LiveId" clId="{FCD29266-852A-4FE5-92A5-550CEF8A2988}" dt="2026-03-22T19:05:29.272" v="982" actId="26606"/>
          <ac:spMkLst>
            <pc:docMk/>
            <pc:sldMk cId="4050403529" sldId="269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05:29.272" v="982" actId="26606"/>
          <ac:spMkLst>
            <pc:docMk/>
            <pc:sldMk cId="4050403529" sldId="269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05:29.272" v="982" actId="26606"/>
          <ac:spMkLst>
            <pc:docMk/>
            <pc:sldMk cId="4050403529" sldId="269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05:29.272" v="982" actId="26606"/>
          <ac:spMkLst>
            <pc:docMk/>
            <pc:sldMk cId="4050403529" sldId="269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05:29.272" v="982" actId="26606"/>
          <ac:spMkLst>
            <pc:docMk/>
            <pc:sldMk cId="4050403529" sldId="269"/>
            <ac:spMk id="17" creationId="{5CC2B463-6BD5-411E-A3CA-67A9FE00313A}"/>
          </ac:spMkLst>
        </pc:spChg>
        <pc:spChg chg="add">
          <ac:chgData name="Łukasz Radomski" userId="ab9b570ad7ab5f43" providerId="LiveId" clId="{FCD29266-852A-4FE5-92A5-550CEF8A2988}" dt="2026-03-22T19:05:29.272" v="982" actId="26606"/>
          <ac:spMkLst>
            <pc:docMk/>
            <pc:sldMk cId="4050403529" sldId="269"/>
            <ac:spMk id="19" creationId="{E83E6F24-3E64-4893-9F13-7BEE01C841E4}"/>
          </ac:spMkLst>
        </pc:spChg>
        <pc:picChg chg="add">
          <ac:chgData name="Łukasz Radomski" userId="ab9b570ad7ab5f43" providerId="LiveId" clId="{FCD29266-852A-4FE5-92A5-550CEF8A2988}" dt="2026-03-22T19:05:29.272" v="982" actId="26606"/>
          <ac:picMkLst>
            <pc:docMk/>
            <pc:sldMk cId="4050403529" sldId="269"/>
            <ac:picMk id="6" creationId="{35E22B0C-FE52-CA08-F547-E3EA95234048}"/>
          </ac:picMkLst>
        </pc:picChg>
        <pc:cxnChg chg="add mod">
          <ac:chgData name="Łukasz Radomski" userId="ab9b570ad7ab5f43" providerId="LiveId" clId="{FCD29266-852A-4FE5-92A5-550CEF8A2988}" dt="2026-03-22T19:06:34.817" v="1049" actId="1076"/>
          <ac:cxnSpMkLst>
            <pc:docMk/>
            <pc:sldMk cId="4050403529" sldId="269"/>
            <ac:cxnSpMk id="7" creationId="{182EE6E7-F3FB-D6E0-F719-E89554159F14}"/>
          </ac:cxnSpMkLst>
        </pc:cxnChg>
      </pc:sldChg>
      <pc:sldChg chg="addSp delSp modSp add mod modTransition setBg">
        <pc:chgData name="Łukasz Radomski" userId="ab9b570ad7ab5f43" providerId="LiveId" clId="{FCD29266-852A-4FE5-92A5-550CEF8A2988}" dt="2026-03-22T19:25:58.062" v="1635"/>
        <pc:sldMkLst>
          <pc:docMk/>
          <pc:sldMk cId="3731683262" sldId="270"/>
        </pc:sldMkLst>
        <pc:spChg chg="mod">
          <ac:chgData name="Łukasz Radomski" userId="ab9b570ad7ab5f43" providerId="LiveId" clId="{FCD29266-852A-4FE5-92A5-550CEF8A2988}" dt="2026-03-22T19:07:06.155" v="1071" actId="26606"/>
          <ac:spMkLst>
            <pc:docMk/>
            <pc:sldMk cId="3731683262" sldId="270"/>
            <ac:spMk id="2" creationId="{225BEC83-6085-E223-9BC3-1540605CF2B2}"/>
          </ac:spMkLst>
        </pc:spChg>
        <pc:spChg chg="add mod">
          <ac:chgData name="Łukasz Radomski" userId="ab9b570ad7ab5f43" providerId="LiveId" clId="{FCD29266-852A-4FE5-92A5-550CEF8A2988}" dt="2026-03-22T19:07:42.997" v="1086" actId="20577"/>
          <ac:spMkLst>
            <pc:docMk/>
            <pc:sldMk cId="3731683262" sldId="270"/>
            <ac:spMk id="4" creationId="{DB6B9981-DDBE-DB5D-F77B-ACCB20975329}"/>
          </ac:spMkLst>
        </pc:spChg>
        <pc:spChg chg="add">
          <ac:chgData name="Łukasz Radomski" userId="ab9b570ad7ab5f43" providerId="LiveId" clId="{FCD29266-852A-4FE5-92A5-550CEF8A2988}" dt="2026-03-22T19:07:06.155" v="1071" actId="26606"/>
          <ac:spMkLst>
            <pc:docMk/>
            <pc:sldMk cId="3731683262" sldId="270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07:06.155" v="1071" actId="26606"/>
          <ac:spMkLst>
            <pc:docMk/>
            <pc:sldMk cId="3731683262" sldId="270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07:06.155" v="1071" actId="26606"/>
          <ac:spMkLst>
            <pc:docMk/>
            <pc:sldMk cId="3731683262" sldId="270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07:06.155" v="1071" actId="26606"/>
          <ac:spMkLst>
            <pc:docMk/>
            <pc:sldMk cId="3731683262" sldId="270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07:06.155" v="1071" actId="26606"/>
          <ac:spMkLst>
            <pc:docMk/>
            <pc:sldMk cId="3731683262" sldId="270"/>
            <ac:spMk id="17" creationId="{A56981F2-287B-4FF9-ADF9-BA62CF2DBF13}"/>
          </ac:spMkLst>
        </pc:spChg>
        <pc:picChg chg="add">
          <ac:chgData name="Łukasz Radomski" userId="ab9b570ad7ab5f43" providerId="LiveId" clId="{FCD29266-852A-4FE5-92A5-550CEF8A2988}" dt="2026-03-22T19:07:06.155" v="1071" actId="26606"/>
          <ac:picMkLst>
            <pc:docMk/>
            <pc:sldMk cId="3731683262" sldId="270"/>
            <ac:picMk id="6" creationId="{EE7C8E55-C566-8FD7-30F3-886DEB95509D}"/>
          </ac:picMkLst>
        </pc:picChg>
      </pc:sldChg>
      <pc:sldChg chg="addSp delSp modSp add mod modTransition setBg addAnim">
        <pc:chgData name="Łukasz Radomski" userId="ab9b570ad7ab5f43" providerId="LiveId" clId="{FCD29266-852A-4FE5-92A5-550CEF8A2988}" dt="2026-03-27T10:18:06.688" v="1646" actId="20577"/>
        <pc:sldMkLst>
          <pc:docMk/>
          <pc:sldMk cId="4054270849" sldId="271"/>
        </pc:sldMkLst>
        <pc:spChg chg="mod">
          <ac:chgData name="Łukasz Radomski" userId="ab9b570ad7ab5f43" providerId="LiveId" clId="{FCD29266-852A-4FE5-92A5-550CEF8A2988}" dt="2026-03-22T19:08:47.001" v="1114" actId="26606"/>
          <ac:spMkLst>
            <pc:docMk/>
            <pc:sldMk cId="4054270849" sldId="271"/>
            <ac:spMk id="2" creationId="{25ACA0C5-DA13-EFD0-7B08-F2903F8345D4}"/>
          </ac:spMkLst>
        </pc:spChg>
        <pc:spChg chg="add mod">
          <ac:chgData name="Łukasz Radomski" userId="ab9b570ad7ab5f43" providerId="LiveId" clId="{FCD29266-852A-4FE5-92A5-550CEF8A2988}" dt="2026-03-27T10:18:06.688" v="1646" actId="20577"/>
          <ac:spMkLst>
            <pc:docMk/>
            <pc:sldMk cId="4054270849" sldId="271"/>
            <ac:spMk id="4" creationId="{CFEE02A9-DB60-31A0-2F18-0F5D383C3B06}"/>
          </ac:spMkLst>
        </pc:spChg>
        <pc:spChg chg="add">
          <ac:chgData name="Łukasz Radomski" userId="ab9b570ad7ab5f43" providerId="LiveId" clId="{FCD29266-852A-4FE5-92A5-550CEF8A2988}" dt="2026-03-22T19:08:47.001" v="1114" actId="26606"/>
          <ac:spMkLst>
            <pc:docMk/>
            <pc:sldMk cId="4054270849" sldId="271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08:47.001" v="1114" actId="26606"/>
          <ac:spMkLst>
            <pc:docMk/>
            <pc:sldMk cId="4054270849" sldId="271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08:47.001" v="1114" actId="26606"/>
          <ac:spMkLst>
            <pc:docMk/>
            <pc:sldMk cId="4054270849" sldId="271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08:47.001" v="1114" actId="26606"/>
          <ac:spMkLst>
            <pc:docMk/>
            <pc:sldMk cId="4054270849" sldId="271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08:47.001" v="1114" actId="26606"/>
          <ac:spMkLst>
            <pc:docMk/>
            <pc:sldMk cId="4054270849" sldId="271"/>
            <ac:spMk id="17" creationId="{A56981F2-287B-4FF9-ADF9-BA62CF2DBF13}"/>
          </ac:spMkLst>
        </pc:spChg>
        <pc:picChg chg="add">
          <ac:chgData name="Łukasz Radomski" userId="ab9b570ad7ab5f43" providerId="LiveId" clId="{FCD29266-852A-4FE5-92A5-550CEF8A2988}" dt="2026-03-22T19:08:47.001" v="1114" actId="26606"/>
          <ac:picMkLst>
            <pc:docMk/>
            <pc:sldMk cId="4054270849" sldId="271"/>
            <ac:picMk id="6" creationId="{28569E56-C2DA-1847-B820-1C708275B14B}"/>
          </ac:picMkLst>
        </pc:picChg>
      </pc:sldChg>
      <pc:sldChg chg="addSp delSp modSp add mod modTransition setBg">
        <pc:chgData name="Łukasz Radomski" userId="ab9b570ad7ab5f43" providerId="LiveId" clId="{FCD29266-852A-4FE5-92A5-550CEF8A2988}" dt="2026-03-22T19:25:58.062" v="1635"/>
        <pc:sldMkLst>
          <pc:docMk/>
          <pc:sldMk cId="3531011732" sldId="272"/>
        </pc:sldMkLst>
        <pc:spChg chg="mod">
          <ac:chgData name="Łukasz Radomski" userId="ab9b570ad7ab5f43" providerId="LiveId" clId="{FCD29266-852A-4FE5-92A5-550CEF8A2988}" dt="2026-03-22T19:10:39.546" v="1148" actId="1076"/>
          <ac:spMkLst>
            <pc:docMk/>
            <pc:sldMk cId="3531011732" sldId="272"/>
            <ac:spMk id="2" creationId="{4582284B-1A0A-3C6F-24F6-3191AAEAB8D5}"/>
          </ac:spMkLst>
        </pc:spChg>
        <pc:spChg chg="add mod">
          <ac:chgData name="Łukasz Radomski" userId="ab9b570ad7ab5f43" providerId="LiveId" clId="{FCD29266-852A-4FE5-92A5-550CEF8A2988}" dt="2026-03-22T19:11:14.904" v="1155" actId="122"/>
          <ac:spMkLst>
            <pc:docMk/>
            <pc:sldMk cId="3531011732" sldId="272"/>
            <ac:spMk id="4" creationId="{F31DF4EA-06C4-8775-A8BA-22D3F835AD96}"/>
          </ac:spMkLst>
        </pc:spChg>
        <pc:spChg chg="add">
          <ac:chgData name="Łukasz Radomski" userId="ab9b570ad7ab5f43" providerId="LiveId" clId="{FCD29266-852A-4FE5-92A5-550CEF8A2988}" dt="2026-03-22T19:10:30.249" v="1145" actId="26606"/>
          <ac:spMkLst>
            <pc:docMk/>
            <pc:sldMk cId="3531011732" sldId="272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10:30.249" v="1145" actId="26606"/>
          <ac:spMkLst>
            <pc:docMk/>
            <pc:sldMk cId="3531011732" sldId="272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10:30.249" v="1145" actId="26606"/>
          <ac:spMkLst>
            <pc:docMk/>
            <pc:sldMk cId="3531011732" sldId="272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10:30.249" v="1145" actId="26606"/>
          <ac:spMkLst>
            <pc:docMk/>
            <pc:sldMk cId="3531011732" sldId="272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10:30.249" v="1145" actId="26606"/>
          <ac:spMkLst>
            <pc:docMk/>
            <pc:sldMk cId="3531011732" sldId="272"/>
            <ac:spMk id="17" creationId="{F115DB35-53D7-4EDC-A965-A434929617CC}"/>
          </ac:spMkLst>
        </pc:spChg>
        <pc:spChg chg="add">
          <ac:chgData name="Łukasz Radomski" userId="ab9b570ad7ab5f43" providerId="LiveId" clId="{FCD29266-852A-4FE5-92A5-550CEF8A2988}" dt="2026-03-22T19:10:30.249" v="1145" actId="26606"/>
          <ac:spMkLst>
            <pc:docMk/>
            <pc:sldMk cId="3531011732" sldId="272"/>
            <ac:spMk id="19" creationId="{4B610F9C-62FE-46FC-8607-C35030B6321A}"/>
          </ac:spMkLst>
        </pc:spChg>
        <pc:picChg chg="add">
          <ac:chgData name="Łukasz Radomski" userId="ab9b570ad7ab5f43" providerId="LiveId" clId="{FCD29266-852A-4FE5-92A5-550CEF8A2988}" dt="2026-03-22T19:10:30.249" v="1145" actId="26606"/>
          <ac:picMkLst>
            <pc:docMk/>
            <pc:sldMk cId="3531011732" sldId="272"/>
            <ac:picMk id="6" creationId="{5CB252B7-45A1-CF97-A16F-90C69E310A67}"/>
          </ac:picMkLst>
        </pc:picChg>
      </pc:sldChg>
      <pc:sldChg chg="addSp delSp modSp add mod modTransition setBg">
        <pc:chgData name="Łukasz Radomski" userId="ab9b570ad7ab5f43" providerId="LiveId" clId="{FCD29266-852A-4FE5-92A5-550CEF8A2988}" dt="2026-03-22T19:25:58.062" v="1635"/>
        <pc:sldMkLst>
          <pc:docMk/>
          <pc:sldMk cId="1241197095" sldId="273"/>
        </pc:sldMkLst>
        <pc:spChg chg="mo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2" creationId="{AFAB65D6-B49D-3C67-E10D-D320D5016CEA}"/>
          </ac:spMkLst>
        </pc:spChg>
        <pc:spChg chg="ad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17" creationId="{F115DB35-53D7-4EDC-A965-A434929617CC}"/>
          </ac:spMkLst>
        </pc:spChg>
        <pc:spChg chg="add">
          <ac:chgData name="Łukasz Radomski" userId="ab9b570ad7ab5f43" providerId="LiveId" clId="{FCD29266-852A-4FE5-92A5-550CEF8A2988}" dt="2026-03-22T19:12:08.051" v="1188" actId="26606"/>
          <ac:spMkLst>
            <pc:docMk/>
            <pc:sldMk cId="1241197095" sldId="273"/>
            <ac:spMk id="19" creationId="{4B610F9C-62FE-46FC-8607-C35030B6321A}"/>
          </ac:spMkLst>
        </pc:spChg>
        <pc:picChg chg="add">
          <ac:chgData name="Łukasz Radomski" userId="ab9b570ad7ab5f43" providerId="LiveId" clId="{FCD29266-852A-4FE5-92A5-550CEF8A2988}" dt="2026-03-22T19:12:08.051" v="1188" actId="26606"/>
          <ac:picMkLst>
            <pc:docMk/>
            <pc:sldMk cId="1241197095" sldId="273"/>
            <ac:picMk id="6" creationId="{A5D6AC48-133A-55D4-E0F2-348F53E92BA1}"/>
          </ac:picMkLst>
        </pc:picChg>
      </pc:sldChg>
      <pc:sldChg chg="addSp delSp modSp add mod modTransition setBg">
        <pc:chgData name="Łukasz Radomski" userId="ab9b570ad7ab5f43" providerId="LiveId" clId="{FCD29266-852A-4FE5-92A5-550CEF8A2988}" dt="2026-03-27T10:18:56.687" v="1649" actId="20577"/>
        <pc:sldMkLst>
          <pc:docMk/>
          <pc:sldMk cId="807119592" sldId="274"/>
        </pc:sldMkLst>
        <pc:spChg chg="mod">
          <ac:chgData name="Łukasz Radomski" userId="ab9b570ad7ab5f43" providerId="LiveId" clId="{FCD29266-852A-4FE5-92A5-550CEF8A2988}" dt="2026-03-22T19:12:37.907" v="1208" actId="26606"/>
          <ac:spMkLst>
            <pc:docMk/>
            <pc:sldMk cId="807119592" sldId="274"/>
            <ac:spMk id="2" creationId="{2590B8A1-BE1C-7D5C-4743-8F713CC14B82}"/>
          </ac:spMkLst>
        </pc:spChg>
        <pc:spChg chg="add mod">
          <ac:chgData name="Łukasz Radomski" userId="ab9b570ad7ab5f43" providerId="LiveId" clId="{FCD29266-852A-4FE5-92A5-550CEF8A2988}" dt="2026-03-27T10:18:56.687" v="1649" actId="20577"/>
          <ac:spMkLst>
            <pc:docMk/>
            <pc:sldMk cId="807119592" sldId="274"/>
            <ac:spMk id="4" creationId="{FDFADE27-5E7A-8F9A-F91A-9A1476B779DC}"/>
          </ac:spMkLst>
        </pc:spChg>
        <pc:spChg chg="add">
          <ac:chgData name="Łukasz Radomski" userId="ab9b570ad7ab5f43" providerId="LiveId" clId="{FCD29266-852A-4FE5-92A5-550CEF8A2988}" dt="2026-03-22T19:12:37.907" v="1208" actId="26606"/>
          <ac:spMkLst>
            <pc:docMk/>
            <pc:sldMk cId="807119592" sldId="274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12:37.907" v="1208" actId="26606"/>
          <ac:spMkLst>
            <pc:docMk/>
            <pc:sldMk cId="807119592" sldId="274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12:37.907" v="1208" actId="26606"/>
          <ac:spMkLst>
            <pc:docMk/>
            <pc:sldMk cId="807119592" sldId="274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12:37.907" v="1208" actId="26606"/>
          <ac:spMkLst>
            <pc:docMk/>
            <pc:sldMk cId="807119592" sldId="274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12:37.907" v="1208" actId="26606"/>
          <ac:spMkLst>
            <pc:docMk/>
            <pc:sldMk cId="807119592" sldId="274"/>
            <ac:spMk id="17" creationId="{066AE2FE-036E-44DB-8A9A-8E3261C9F484}"/>
          </ac:spMkLst>
        </pc:spChg>
        <pc:picChg chg="add">
          <ac:chgData name="Łukasz Radomski" userId="ab9b570ad7ab5f43" providerId="LiveId" clId="{FCD29266-852A-4FE5-92A5-550CEF8A2988}" dt="2026-03-22T19:12:37.907" v="1208" actId="26606"/>
          <ac:picMkLst>
            <pc:docMk/>
            <pc:sldMk cId="807119592" sldId="274"/>
            <ac:picMk id="6" creationId="{1272AE72-5E10-3F7D-F81C-250A3F2E18E9}"/>
          </ac:picMkLst>
        </pc:picChg>
      </pc:sldChg>
      <pc:sldChg chg="addSp delSp modSp add mod modTransition setBg addAnim">
        <pc:chgData name="Łukasz Radomski" userId="ab9b570ad7ab5f43" providerId="LiveId" clId="{FCD29266-852A-4FE5-92A5-550CEF8A2988}" dt="2026-03-27T10:20:06.680" v="1651" actId="20577"/>
        <pc:sldMkLst>
          <pc:docMk/>
          <pc:sldMk cId="1344453345" sldId="275"/>
        </pc:sldMkLst>
        <pc:spChg chg="mod">
          <ac:chgData name="Łukasz Radomski" userId="ab9b570ad7ab5f43" providerId="LiveId" clId="{FCD29266-852A-4FE5-92A5-550CEF8A2988}" dt="2026-03-22T19:15:00.300" v="1247" actId="26606"/>
          <ac:spMkLst>
            <pc:docMk/>
            <pc:sldMk cId="1344453345" sldId="275"/>
            <ac:spMk id="2" creationId="{D31ADEBF-0541-2545-161C-232DF576144C}"/>
          </ac:spMkLst>
        </pc:spChg>
        <pc:spChg chg="add mod">
          <ac:chgData name="Łukasz Radomski" userId="ab9b570ad7ab5f43" providerId="LiveId" clId="{FCD29266-852A-4FE5-92A5-550CEF8A2988}" dt="2026-03-27T10:20:06.680" v="1651" actId="20577"/>
          <ac:spMkLst>
            <pc:docMk/>
            <pc:sldMk cId="1344453345" sldId="275"/>
            <ac:spMk id="4" creationId="{290EE8A1-FB11-4C75-307B-17D3B61936B9}"/>
          </ac:spMkLst>
        </pc:spChg>
        <pc:spChg chg="add">
          <ac:chgData name="Łukasz Radomski" userId="ab9b570ad7ab5f43" providerId="LiveId" clId="{FCD29266-852A-4FE5-92A5-550CEF8A2988}" dt="2026-03-22T19:15:00.300" v="1247" actId="26606"/>
          <ac:spMkLst>
            <pc:docMk/>
            <pc:sldMk cId="1344453345" sldId="275"/>
            <ac:spMk id="9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15:00.300" v="1247" actId="26606"/>
          <ac:spMkLst>
            <pc:docMk/>
            <pc:sldMk cId="1344453345" sldId="275"/>
            <ac:spMk id="11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15:00.300" v="1247" actId="26606"/>
          <ac:spMkLst>
            <pc:docMk/>
            <pc:sldMk cId="1344453345" sldId="275"/>
            <ac:spMk id="13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15:00.300" v="1247" actId="26606"/>
          <ac:spMkLst>
            <pc:docMk/>
            <pc:sldMk cId="1344453345" sldId="275"/>
            <ac:spMk id="15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15:00.300" v="1247" actId="26606"/>
          <ac:spMkLst>
            <pc:docMk/>
            <pc:sldMk cId="1344453345" sldId="275"/>
            <ac:spMk id="17" creationId="{066AE2FE-036E-44DB-8A9A-8E3261C9F484}"/>
          </ac:spMkLst>
        </pc:spChg>
        <pc:picChg chg="add">
          <ac:chgData name="Łukasz Radomski" userId="ab9b570ad7ab5f43" providerId="LiveId" clId="{FCD29266-852A-4FE5-92A5-550CEF8A2988}" dt="2026-03-22T19:15:00.300" v="1247" actId="26606"/>
          <ac:picMkLst>
            <pc:docMk/>
            <pc:sldMk cId="1344453345" sldId="275"/>
            <ac:picMk id="6" creationId="{500B30AD-A38C-55E9-1176-A8869BF52DD8}"/>
          </ac:picMkLst>
        </pc:picChg>
      </pc:sldChg>
      <pc:sldChg chg="addSp delSp modSp add mod modTransition setBg setClrOvrMap">
        <pc:chgData name="Łukasz Radomski" userId="ab9b570ad7ab5f43" providerId="LiveId" clId="{FCD29266-852A-4FE5-92A5-550CEF8A2988}" dt="2026-03-22T19:25:58.062" v="1635"/>
        <pc:sldMkLst>
          <pc:docMk/>
          <pc:sldMk cId="1823468696" sldId="277"/>
        </pc:sldMkLst>
        <pc:spChg chg="mod">
          <ac:chgData name="Łukasz Radomski" userId="ab9b570ad7ab5f43" providerId="LiveId" clId="{FCD29266-852A-4FE5-92A5-550CEF8A2988}" dt="2026-03-22T19:18:09.335" v="1405" actId="1076"/>
          <ac:spMkLst>
            <pc:docMk/>
            <pc:sldMk cId="1823468696" sldId="277"/>
            <ac:spMk id="2" creationId="{272FD9F9-5D9A-1D83-03F0-0481C339BD74}"/>
          </ac:spMkLst>
        </pc:spChg>
        <pc:spChg chg="add">
          <ac:chgData name="Łukasz Radomski" userId="ab9b570ad7ab5f43" providerId="LiveId" clId="{FCD29266-852A-4FE5-92A5-550CEF8A2988}" dt="2026-03-22T19:17:50.063" v="1402" actId="26606"/>
          <ac:spMkLst>
            <pc:docMk/>
            <pc:sldMk cId="1823468696" sldId="277"/>
            <ac:spMk id="27" creationId="{C249177F-A06A-45FB-B00F-00720EA19913}"/>
          </ac:spMkLst>
        </pc:spChg>
        <pc:spChg chg="add">
          <ac:chgData name="Łukasz Radomski" userId="ab9b570ad7ab5f43" providerId="LiveId" clId="{FCD29266-852A-4FE5-92A5-550CEF8A2988}" dt="2026-03-22T19:17:50.063" v="1402" actId="26606"/>
          <ac:spMkLst>
            <pc:docMk/>
            <pc:sldMk cId="1823468696" sldId="277"/>
            <ac:spMk id="28" creationId="{2E776F1A-996E-49D1-B112-57A6E7164249}"/>
          </ac:spMkLst>
        </pc:spChg>
        <pc:spChg chg="add">
          <ac:chgData name="Łukasz Radomski" userId="ab9b570ad7ab5f43" providerId="LiveId" clId="{FCD29266-852A-4FE5-92A5-550CEF8A2988}" dt="2026-03-22T19:17:50.063" v="1402" actId="26606"/>
          <ac:spMkLst>
            <pc:docMk/>
            <pc:sldMk cId="1823468696" sldId="277"/>
            <ac:spMk id="29" creationId="{4C4C3B4B-612F-41A6-81E2-EF54C810767F}"/>
          </ac:spMkLst>
        </pc:spChg>
        <pc:spChg chg="add">
          <ac:chgData name="Łukasz Radomski" userId="ab9b570ad7ab5f43" providerId="LiveId" clId="{FCD29266-852A-4FE5-92A5-550CEF8A2988}" dt="2026-03-22T19:17:50.063" v="1402" actId="26606"/>
          <ac:spMkLst>
            <pc:docMk/>
            <pc:sldMk cId="1823468696" sldId="277"/>
            <ac:spMk id="30" creationId="{02D3A97A-037A-4CD4-96C9-9571CA29B92F}"/>
          </ac:spMkLst>
        </pc:spChg>
        <pc:graphicFrameChg chg="add modGraphic">
          <ac:chgData name="Łukasz Radomski" userId="ab9b570ad7ab5f43" providerId="LiveId" clId="{FCD29266-852A-4FE5-92A5-550CEF8A2988}" dt="2026-03-22T19:17:54.012" v="1403" actId="20577"/>
          <ac:graphicFrameMkLst>
            <pc:docMk/>
            <pc:sldMk cId="1823468696" sldId="277"/>
            <ac:graphicFrameMk id="31" creationId="{8BF7B82B-6DF0-7612-AAFC-9874ECECEBB0}"/>
          </ac:graphicFrameMkLst>
        </pc:graphicFrameChg>
      </pc:sldChg>
      <pc:sldChg chg="addSp delSp modSp add mod modTransition setBg">
        <pc:chgData name="Łukasz Radomski" userId="ab9b570ad7ab5f43" providerId="LiveId" clId="{FCD29266-852A-4FE5-92A5-550CEF8A2988}" dt="2026-03-22T19:25:58.062" v="1635"/>
        <pc:sldMkLst>
          <pc:docMk/>
          <pc:sldMk cId="2317016381" sldId="278"/>
        </pc:sldMkLst>
        <pc:spChg chg="mod">
          <ac:chgData name="Łukasz Radomski" userId="ab9b570ad7ab5f43" providerId="LiveId" clId="{FCD29266-852A-4FE5-92A5-550CEF8A2988}" dt="2026-03-22T19:19:54.004" v="1453" actId="122"/>
          <ac:spMkLst>
            <pc:docMk/>
            <pc:sldMk cId="2317016381" sldId="278"/>
            <ac:spMk id="2" creationId="{EFECC43B-A847-FFE2-D23C-55D7221C35E3}"/>
          </ac:spMkLst>
        </pc:spChg>
        <pc:spChg chg="add">
          <ac:chgData name="Łukasz Radomski" userId="ab9b570ad7ab5f43" providerId="LiveId" clId="{FCD29266-852A-4FE5-92A5-550CEF8A2988}" dt="2026-03-22T19:19:48.522" v="1452" actId="26606"/>
          <ac:spMkLst>
            <pc:docMk/>
            <pc:sldMk cId="2317016381" sldId="278"/>
            <ac:spMk id="10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19:48.522" v="1452" actId="26606"/>
          <ac:spMkLst>
            <pc:docMk/>
            <pc:sldMk cId="2317016381" sldId="278"/>
            <ac:spMk id="12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19:48.522" v="1452" actId="26606"/>
          <ac:spMkLst>
            <pc:docMk/>
            <pc:sldMk cId="2317016381" sldId="278"/>
            <ac:spMk id="14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19:48.522" v="1452" actId="26606"/>
          <ac:spMkLst>
            <pc:docMk/>
            <pc:sldMk cId="2317016381" sldId="278"/>
            <ac:spMk id="16" creationId="{90EB7086-616E-4D44-94BE-D0F763561782}"/>
          </ac:spMkLst>
        </pc:spChg>
        <pc:spChg chg="add">
          <ac:chgData name="Łukasz Radomski" userId="ab9b570ad7ab5f43" providerId="LiveId" clId="{FCD29266-852A-4FE5-92A5-550CEF8A2988}" dt="2026-03-22T19:19:48.522" v="1452" actId="26606"/>
          <ac:spMkLst>
            <pc:docMk/>
            <pc:sldMk cId="2317016381" sldId="278"/>
            <ac:spMk id="18" creationId="{5CC2B463-6BD5-411E-A3CA-67A9FE00313A}"/>
          </ac:spMkLst>
        </pc:spChg>
        <pc:spChg chg="add">
          <ac:chgData name="Łukasz Radomski" userId="ab9b570ad7ab5f43" providerId="LiveId" clId="{FCD29266-852A-4FE5-92A5-550CEF8A2988}" dt="2026-03-22T19:19:48.522" v="1452" actId="26606"/>
          <ac:spMkLst>
            <pc:docMk/>
            <pc:sldMk cId="2317016381" sldId="278"/>
            <ac:spMk id="20" creationId="{E83E6F24-3E64-4893-9F13-7BEE01C841E4}"/>
          </ac:spMkLst>
        </pc:spChg>
        <pc:picChg chg="add mod">
          <ac:chgData name="Łukasz Radomski" userId="ab9b570ad7ab5f43" providerId="LiveId" clId="{FCD29266-852A-4FE5-92A5-550CEF8A2988}" dt="2026-03-22T19:19:48.522" v="1452" actId="26606"/>
          <ac:picMkLst>
            <pc:docMk/>
            <pc:sldMk cId="2317016381" sldId="278"/>
            <ac:picMk id="5" creationId="{6645DC7D-4068-3065-D5C6-B3882CF2D08D}"/>
          </ac:picMkLst>
        </pc:picChg>
      </pc:sldChg>
      <pc:sldChg chg="addSp delSp modSp add mod modTransition setBg">
        <pc:chgData name="Łukasz Radomski" userId="ab9b570ad7ab5f43" providerId="LiveId" clId="{FCD29266-852A-4FE5-92A5-550CEF8A2988}" dt="2026-03-22T19:25:58.062" v="1635"/>
        <pc:sldMkLst>
          <pc:docMk/>
          <pc:sldMk cId="2014256542" sldId="279"/>
        </pc:sldMkLst>
        <pc:spChg chg="mod ord">
          <ac:chgData name="Łukasz Radomski" userId="ab9b570ad7ab5f43" providerId="LiveId" clId="{FCD29266-852A-4FE5-92A5-550CEF8A2988}" dt="2026-03-22T19:22:07.197" v="1513" actId="113"/>
          <ac:spMkLst>
            <pc:docMk/>
            <pc:sldMk cId="2014256542" sldId="279"/>
            <ac:spMk id="3" creationId="{3998673F-44EE-7353-94C7-C86E1FF2CE0D}"/>
          </ac:spMkLst>
        </pc:spChg>
        <pc:spChg chg="add mod">
          <ac:chgData name="Łukasz Radomski" userId="ab9b570ad7ab5f43" providerId="LiveId" clId="{FCD29266-852A-4FE5-92A5-550CEF8A2988}" dt="2026-03-22T19:21:20.251" v="1505" actId="1076"/>
          <ac:spMkLst>
            <pc:docMk/>
            <pc:sldMk cId="2014256542" sldId="279"/>
            <ac:spMk id="5" creationId="{62BDDCF4-EACF-5D1F-0A22-F7EB9079CECD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10" creationId="{F7660A3D-94D7-4E5D-AE77-F2DEE49DF4EE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12" creationId="{A44EB985-DC5C-4DAC-9D62-8DC7D0F25A8F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14" creationId="{3FCB64ED-B050-4F57-8188-F233260082B0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16" creationId="{495E99FA-492C-4C5E-9893-0F326B1B69E1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18" creationId="{1A59258C-AAC2-41CD-973C-7439B122A3FF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20" creationId="{54516B72-0116-42B2-82A2-B11218A36636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22" creationId="{7CDB507F-21B7-4C27-B0FC-D9C465C6DB44}"/>
          </ac:spMkLst>
        </pc:spChg>
        <pc:spChg chg="add">
          <ac:chgData name="Łukasz Radomski" userId="ab9b570ad7ab5f43" providerId="LiveId" clId="{FCD29266-852A-4FE5-92A5-550CEF8A2988}" dt="2026-03-22T19:20:48.943" v="1459" actId="26606"/>
          <ac:spMkLst>
            <pc:docMk/>
            <pc:sldMk cId="2014256542" sldId="279"/>
            <ac:spMk id="24" creationId="{7AB1AE17-B7A3-4363-95CD-25441E2FF1F3}"/>
          </ac:spMkLst>
        </pc:spChg>
      </pc:sldChg>
      <pc:sldChg chg="addSp delSp modSp add mod modTransition setBg">
        <pc:chgData name="Łukasz Radomski" userId="ab9b570ad7ab5f43" providerId="LiveId" clId="{FCD29266-852A-4FE5-92A5-550CEF8A2988}" dt="2026-03-27T10:23:58.754" v="1683" actId="20577"/>
        <pc:sldMkLst>
          <pc:docMk/>
          <pc:sldMk cId="4142762795" sldId="280"/>
        </pc:sldMkLst>
        <pc:spChg chg="mod">
          <ac:chgData name="Łukasz Radomski" userId="ab9b570ad7ab5f43" providerId="LiveId" clId="{FCD29266-852A-4FE5-92A5-550CEF8A2988}" dt="2026-03-22T19:23:34.754" v="1550" actId="26606"/>
          <ac:spMkLst>
            <pc:docMk/>
            <pc:sldMk cId="4142762795" sldId="280"/>
            <ac:spMk id="2" creationId="{9B0653AC-76EC-C725-5837-5C7C98F99F0F}"/>
          </ac:spMkLst>
        </pc:spChg>
        <pc:spChg chg="mod">
          <ac:chgData name="Łukasz Radomski" userId="ab9b570ad7ab5f43" providerId="LiveId" clId="{FCD29266-852A-4FE5-92A5-550CEF8A2988}" dt="2026-03-27T10:23:58.754" v="1683" actId="20577"/>
          <ac:spMkLst>
            <pc:docMk/>
            <pc:sldMk cId="4142762795" sldId="280"/>
            <ac:spMk id="3" creationId="{143CBD61-AA25-5AC7-6DD6-488AA7FC000A}"/>
          </ac:spMkLst>
        </pc:spChg>
        <pc:spChg chg="add">
          <ac:chgData name="Łukasz Radomski" userId="ab9b570ad7ab5f43" providerId="LiveId" clId="{FCD29266-852A-4FE5-92A5-550CEF8A2988}" dt="2026-03-22T19:23:34.754" v="1550" actId="26606"/>
          <ac:spMkLst>
            <pc:docMk/>
            <pc:sldMk cId="4142762795" sldId="280"/>
            <ac:spMk id="10" creationId="{48E96387-12F1-45E4-9322-ABBF2EE040E9}"/>
          </ac:spMkLst>
        </pc:spChg>
        <pc:spChg chg="add">
          <ac:chgData name="Łukasz Radomski" userId="ab9b570ad7ab5f43" providerId="LiveId" clId="{FCD29266-852A-4FE5-92A5-550CEF8A2988}" dt="2026-03-22T19:23:34.754" v="1550" actId="26606"/>
          <ac:spMkLst>
            <pc:docMk/>
            <pc:sldMk cId="4142762795" sldId="280"/>
            <ac:spMk id="12" creationId="{A9F421DD-DE4E-4547-A904-3F80E25E3F35}"/>
          </ac:spMkLst>
        </pc:spChg>
        <pc:spChg chg="add">
          <ac:chgData name="Łukasz Radomski" userId="ab9b570ad7ab5f43" providerId="LiveId" clId="{FCD29266-852A-4FE5-92A5-550CEF8A2988}" dt="2026-03-22T19:23:34.754" v="1550" actId="26606"/>
          <ac:spMkLst>
            <pc:docMk/>
            <pc:sldMk cId="4142762795" sldId="280"/>
            <ac:spMk id="14" creationId="{09985DEC-1215-4209-9708-B45CC977402E}"/>
          </ac:spMkLst>
        </pc:spChg>
        <pc:spChg chg="add">
          <ac:chgData name="Łukasz Radomski" userId="ab9b570ad7ab5f43" providerId="LiveId" clId="{FCD29266-852A-4FE5-92A5-550CEF8A2988}" dt="2026-03-22T19:23:34.754" v="1550" actId="26606"/>
          <ac:spMkLst>
            <pc:docMk/>
            <pc:sldMk cId="4142762795" sldId="280"/>
            <ac:spMk id="16" creationId="{A926A64B-3BCB-44CC-892E-C791C324B7F0}"/>
          </ac:spMkLst>
        </pc:spChg>
        <pc:spChg chg="add">
          <ac:chgData name="Łukasz Radomski" userId="ab9b570ad7ab5f43" providerId="LiveId" clId="{FCD29266-852A-4FE5-92A5-550CEF8A2988}" dt="2026-03-22T19:23:34.754" v="1550" actId="26606"/>
          <ac:spMkLst>
            <pc:docMk/>
            <pc:sldMk cId="4142762795" sldId="280"/>
            <ac:spMk id="18" creationId="{3FE9758B-E361-4084-8D9F-729FA6C4AD7E}"/>
          </ac:spMkLst>
        </pc:spChg>
        <pc:picChg chg="add">
          <ac:chgData name="Łukasz Radomski" userId="ab9b570ad7ab5f43" providerId="LiveId" clId="{FCD29266-852A-4FE5-92A5-550CEF8A2988}" dt="2026-03-22T19:23:34.754" v="1550" actId="26606"/>
          <ac:picMkLst>
            <pc:docMk/>
            <pc:sldMk cId="4142762795" sldId="280"/>
            <ac:picMk id="7" creationId="{8FE824C2-564B-60A5-27BD-83DA52C5561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A54B83-1D44-4240-ADA4-D228E4CBA12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01C2F86-09F2-49E3-B481-917AF3B33376}">
      <dgm:prSet/>
      <dgm:spPr/>
      <dgm:t>
        <a:bodyPr/>
        <a:lstStyle/>
        <a:p>
          <a:r>
            <a:rPr lang="pl-PL" b="1"/>
            <a:t>AMD	</a:t>
          </a:r>
          <a:r>
            <a:rPr lang="pl-PL"/>
            <a:t> Buduje współpracę z największymi graczami. AWS i inni dostawcy chmur oferują instancje z procesorami EPYC (wszystkie kolejne generacje od 2018). Partnerzy w konsolach: Sony i Microsoft wybrali AMD (umowy na lata, gwarantujące dużą skalę produkcji APU). W sektorze automatyki i sieci AMD łączy siły z firmą Pensando (akceleratory sieciowe) oraz z firmami motoryzacyjnymi (BMW używa chipów AMD w samochodach). Po przejęciu Xilinx AMD ma głęboki dostęp do rynku FPGA (np. klientami są Cisco, Qualcomm). AMD także współpracuje z zespołami deweloperów gier (dla optymalizacji silników pod Ryzen/Radeon).</a:t>
          </a:r>
          <a:endParaRPr lang="en-US"/>
        </a:p>
      </dgm:t>
    </dgm:pt>
    <dgm:pt modelId="{485379B7-A668-4C49-9B10-97C8E17C8266}" type="parTrans" cxnId="{33FD3930-8296-4C93-A310-4F8EBE0D3E5C}">
      <dgm:prSet/>
      <dgm:spPr/>
      <dgm:t>
        <a:bodyPr/>
        <a:lstStyle/>
        <a:p>
          <a:endParaRPr lang="en-US"/>
        </a:p>
      </dgm:t>
    </dgm:pt>
    <dgm:pt modelId="{CFD6C2F7-39AE-4609-9DDD-D4E5ACCD4A70}" type="sibTrans" cxnId="{33FD3930-8296-4C93-A310-4F8EBE0D3E5C}">
      <dgm:prSet/>
      <dgm:spPr/>
      <dgm:t>
        <a:bodyPr/>
        <a:lstStyle/>
        <a:p>
          <a:endParaRPr lang="en-US"/>
        </a:p>
      </dgm:t>
    </dgm:pt>
    <dgm:pt modelId="{E531C03C-863E-43D0-9589-E14186DDD26B}">
      <dgm:prSet/>
      <dgm:spPr/>
      <dgm:t>
        <a:bodyPr/>
        <a:lstStyle/>
        <a:p>
          <a:r>
            <a:rPr lang="pl-PL" b="1" dirty="0"/>
            <a:t>Intel	</a:t>
          </a:r>
          <a:r>
            <a:rPr lang="pl-PL" dirty="0"/>
            <a:t> Ma rozbudowaną sieć partnerów OEM (Dell, HP, Lenovo) – dostarcza im procesory do większości klasycznych PC. Prowadzi też zaawansowane partnerstwa technologiczne: z firmami oprogramowania (Microsoft, </a:t>
          </a:r>
          <a:r>
            <a:rPr lang="pl-PL" dirty="0" err="1"/>
            <a:t>VMware</a:t>
          </a:r>
          <a:r>
            <a:rPr lang="pl-PL" dirty="0"/>
            <a:t> – optymalizacja Windows/Linux pod </a:t>
          </a:r>
          <a:r>
            <a:rPr lang="pl-PL" dirty="0" err="1"/>
            <a:t>Core</a:t>
          </a:r>
          <a:r>
            <a:rPr lang="pl-PL" dirty="0"/>
            <a:t> i Xeon), z motoryzacyjną (</a:t>
          </a:r>
          <a:r>
            <a:rPr lang="pl-PL" dirty="0" err="1"/>
            <a:t>Mobileye</a:t>
          </a:r>
          <a:r>
            <a:rPr lang="pl-PL" dirty="0"/>
            <a:t> przy autonomicznych pojazdach), i z branżą 5G (m.in. fabryka w Chinach na potrzeby smartfonów 5G, później odsprzedana). W ramach Intel </a:t>
          </a:r>
          <a:r>
            <a:rPr lang="pl-PL" dirty="0" err="1"/>
            <a:t>Foundry</a:t>
          </a:r>
          <a:r>
            <a:rPr lang="pl-PL" dirty="0"/>
            <a:t> pozyskuje partnerów projektowych (</a:t>
          </a:r>
          <a:r>
            <a:rPr lang="pl-PL" dirty="0" err="1"/>
            <a:t>Synopsys</a:t>
          </a:r>
          <a:r>
            <a:rPr lang="pl-PL" dirty="0"/>
            <a:t>, </a:t>
          </a:r>
          <a:r>
            <a:rPr lang="pl-PL" dirty="0" err="1"/>
            <a:t>Cadence</a:t>
          </a:r>
          <a:r>
            <a:rPr lang="pl-PL" dirty="0"/>
            <a:t>, Siemens) oraz negocjuje umowy z potentatami (raporty mówią o rozmowach z Apple, Google, </a:t>
          </a:r>
          <a:r>
            <a:rPr lang="pl-PL" dirty="0" err="1"/>
            <a:t>Broadcom</a:t>
          </a:r>
          <a:r>
            <a:rPr lang="pl-PL" dirty="0"/>
            <a:t> czy nawet </a:t>
          </a:r>
          <a:r>
            <a:rPr lang="pl-PL" dirty="0" err="1"/>
            <a:t>Nvidią</a:t>
          </a:r>
          <a:r>
            <a:rPr lang="pl-PL" dirty="0"/>
            <a:t>).</a:t>
          </a:r>
          <a:endParaRPr lang="en-US" dirty="0"/>
        </a:p>
      </dgm:t>
    </dgm:pt>
    <dgm:pt modelId="{663B7647-464E-480C-A12A-13035C95D228}" type="parTrans" cxnId="{15C88A43-97C2-420C-BE66-65C400827CC9}">
      <dgm:prSet/>
      <dgm:spPr/>
      <dgm:t>
        <a:bodyPr/>
        <a:lstStyle/>
        <a:p>
          <a:endParaRPr lang="en-US"/>
        </a:p>
      </dgm:t>
    </dgm:pt>
    <dgm:pt modelId="{E1F9F089-7D9A-41C2-96DD-18F54209C864}" type="sibTrans" cxnId="{15C88A43-97C2-420C-BE66-65C400827CC9}">
      <dgm:prSet/>
      <dgm:spPr/>
      <dgm:t>
        <a:bodyPr/>
        <a:lstStyle/>
        <a:p>
          <a:endParaRPr lang="en-US"/>
        </a:p>
      </dgm:t>
    </dgm:pt>
    <dgm:pt modelId="{54A038A9-4D8F-4D43-A0D9-5678355ABB1A}" type="pres">
      <dgm:prSet presAssocID="{0AA54B83-1D44-4240-ADA4-D228E4CBA12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649EA35-99DF-4704-A47F-EAEB0A7E69C2}" type="pres">
      <dgm:prSet presAssocID="{101C2F86-09F2-49E3-B481-917AF3B33376}" presName="hierRoot1" presStyleCnt="0"/>
      <dgm:spPr/>
    </dgm:pt>
    <dgm:pt modelId="{3C66221F-B077-4364-AA9E-8627896D873F}" type="pres">
      <dgm:prSet presAssocID="{101C2F86-09F2-49E3-B481-917AF3B33376}" presName="composite" presStyleCnt="0"/>
      <dgm:spPr/>
    </dgm:pt>
    <dgm:pt modelId="{F9509FB9-D0AC-4613-AC76-56F1268A9995}" type="pres">
      <dgm:prSet presAssocID="{101C2F86-09F2-49E3-B481-917AF3B33376}" presName="background" presStyleLbl="node0" presStyleIdx="0" presStyleCnt="2"/>
      <dgm:spPr/>
    </dgm:pt>
    <dgm:pt modelId="{CE9DF62E-8488-4F61-B255-7A28902D631D}" type="pres">
      <dgm:prSet presAssocID="{101C2F86-09F2-49E3-B481-917AF3B33376}" presName="text" presStyleLbl="fgAcc0" presStyleIdx="0" presStyleCnt="2">
        <dgm:presLayoutVars>
          <dgm:chPref val="3"/>
        </dgm:presLayoutVars>
      </dgm:prSet>
      <dgm:spPr/>
    </dgm:pt>
    <dgm:pt modelId="{E26A1884-AF75-4488-B7A4-F875CB4312A7}" type="pres">
      <dgm:prSet presAssocID="{101C2F86-09F2-49E3-B481-917AF3B33376}" presName="hierChild2" presStyleCnt="0"/>
      <dgm:spPr/>
    </dgm:pt>
    <dgm:pt modelId="{CE7142C5-AA92-4C0E-870F-3615592F647F}" type="pres">
      <dgm:prSet presAssocID="{E531C03C-863E-43D0-9589-E14186DDD26B}" presName="hierRoot1" presStyleCnt="0"/>
      <dgm:spPr/>
    </dgm:pt>
    <dgm:pt modelId="{DA2F241E-8E40-43A1-B32F-B3A307C32B79}" type="pres">
      <dgm:prSet presAssocID="{E531C03C-863E-43D0-9589-E14186DDD26B}" presName="composite" presStyleCnt="0"/>
      <dgm:spPr/>
    </dgm:pt>
    <dgm:pt modelId="{B75E024C-5ECB-4427-BCAF-1026E84ED4BB}" type="pres">
      <dgm:prSet presAssocID="{E531C03C-863E-43D0-9589-E14186DDD26B}" presName="background" presStyleLbl="node0" presStyleIdx="1" presStyleCnt="2"/>
      <dgm:spPr/>
    </dgm:pt>
    <dgm:pt modelId="{1F850832-AE30-4862-A5D4-B9A3D2676C8F}" type="pres">
      <dgm:prSet presAssocID="{E531C03C-863E-43D0-9589-E14186DDD26B}" presName="text" presStyleLbl="fgAcc0" presStyleIdx="1" presStyleCnt="2">
        <dgm:presLayoutVars>
          <dgm:chPref val="3"/>
        </dgm:presLayoutVars>
      </dgm:prSet>
      <dgm:spPr/>
    </dgm:pt>
    <dgm:pt modelId="{0C03D214-C679-46D8-97B8-C229E5A3FDAB}" type="pres">
      <dgm:prSet presAssocID="{E531C03C-863E-43D0-9589-E14186DDD26B}" presName="hierChild2" presStyleCnt="0"/>
      <dgm:spPr/>
    </dgm:pt>
  </dgm:ptLst>
  <dgm:cxnLst>
    <dgm:cxn modelId="{2425782E-664B-471D-9D39-DF27C3F325DC}" type="presOf" srcId="{0AA54B83-1D44-4240-ADA4-D228E4CBA127}" destId="{54A038A9-4D8F-4D43-A0D9-5678355ABB1A}" srcOrd="0" destOrd="0" presId="urn:microsoft.com/office/officeart/2005/8/layout/hierarchy1"/>
    <dgm:cxn modelId="{33FD3930-8296-4C93-A310-4F8EBE0D3E5C}" srcId="{0AA54B83-1D44-4240-ADA4-D228E4CBA127}" destId="{101C2F86-09F2-49E3-B481-917AF3B33376}" srcOrd="0" destOrd="0" parTransId="{485379B7-A668-4C49-9B10-97C8E17C8266}" sibTransId="{CFD6C2F7-39AE-4609-9DDD-D4E5ACCD4A70}"/>
    <dgm:cxn modelId="{88E8695F-EEC6-4CB1-8EA4-BDF827F62BCE}" type="presOf" srcId="{101C2F86-09F2-49E3-B481-917AF3B33376}" destId="{CE9DF62E-8488-4F61-B255-7A28902D631D}" srcOrd="0" destOrd="0" presId="urn:microsoft.com/office/officeart/2005/8/layout/hierarchy1"/>
    <dgm:cxn modelId="{15C88A43-97C2-420C-BE66-65C400827CC9}" srcId="{0AA54B83-1D44-4240-ADA4-D228E4CBA127}" destId="{E531C03C-863E-43D0-9589-E14186DDD26B}" srcOrd="1" destOrd="0" parTransId="{663B7647-464E-480C-A12A-13035C95D228}" sibTransId="{E1F9F089-7D9A-41C2-96DD-18F54209C864}"/>
    <dgm:cxn modelId="{F324BEE4-C7C3-4FE6-A9C2-52D6D8B126EB}" type="presOf" srcId="{E531C03C-863E-43D0-9589-E14186DDD26B}" destId="{1F850832-AE30-4862-A5D4-B9A3D2676C8F}" srcOrd="0" destOrd="0" presId="urn:microsoft.com/office/officeart/2005/8/layout/hierarchy1"/>
    <dgm:cxn modelId="{78EFFA1B-E07F-4B8D-AF6B-96F687D86E4A}" type="presParOf" srcId="{54A038A9-4D8F-4D43-A0D9-5678355ABB1A}" destId="{1649EA35-99DF-4704-A47F-EAEB0A7E69C2}" srcOrd="0" destOrd="0" presId="urn:microsoft.com/office/officeart/2005/8/layout/hierarchy1"/>
    <dgm:cxn modelId="{6D564DBA-074B-424E-91C8-866249D87CD0}" type="presParOf" srcId="{1649EA35-99DF-4704-A47F-EAEB0A7E69C2}" destId="{3C66221F-B077-4364-AA9E-8627896D873F}" srcOrd="0" destOrd="0" presId="urn:microsoft.com/office/officeart/2005/8/layout/hierarchy1"/>
    <dgm:cxn modelId="{8A7BE3B4-720B-4EE8-87E2-6D5B44ACA3D0}" type="presParOf" srcId="{3C66221F-B077-4364-AA9E-8627896D873F}" destId="{F9509FB9-D0AC-4613-AC76-56F1268A9995}" srcOrd="0" destOrd="0" presId="urn:microsoft.com/office/officeart/2005/8/layout/hierarchy1"/>
    <dgm:cxn modelId="{369AF5F1-AB66-44B5-BD16-88A1FFFF0B6A}" type="presParOf" srcId="{3C66221F-B077-4364-AA9E-8627896D873F}" destId="{CE9DF62E-8488-4F61-B255-7A28902D631D}" srcOrd="1" destOrd="0" presId="urn:microsoft.com/office/officeart/2005/8/layout/hierarchy1"/>
    <dgm:cxn modelId="{EB3DA678-3726-4A11-967B-E93A34D2F51F}" type="presParOf" srcId="{1649EA35-99DF-4704-A47F-EAEB0A7E69C2}" destId="{E26A1884-AF75-4488-B7A4-F875CB4312A7}" srcOrd="1" destOrd="0" presId="urn:microsoft.com/office/officeart/2005/8/layout/hierarchy1"/>
    <dgm:cxn modelId="{26056C79-073E-46F6-A240-734E588CE465}" type="presParOf" srcId="{54A038A9-4D8F-4D43-A0D9-5678355ABB1A}" destId="{CE7142C5-AA92-4C0E-870F-3615592F647F}" srcOrd="1" destOrd="0" presId="urn:microsoft.com/office/officeart/2005/8/layout/hierarchy1"/>
    <dgm:cxn modelId="{A9470B78-9102-41D4-BAF2-2145560847BC}" type="presParOf" srcId="{CE7142C5-AA92-4C0E-870F-3615592F647F}" destId="{DA2F241E-8E40-43A1-B32F-B3A307C32B79}" srcOrd="0" destOrd="0" presId="urn:microsoft.com/office/officeart/2005/8/layout/hierarchy1"/>
    <dgm:cxn modelId="{A3D154F7-B173-4781-890A-B1262151D9BA}" type="presParOf" srcId="{DA2F241E-8E40-43A1-B32F-B3A307C32B79}" destId="{B75E024C-5ECB-4427-BCAF-1026E84ED4BB}" srcOrd="0" destOrd="0" presId="urn:microsoft.com/office/officeart/2005/8/layout/hierarchy1"/>
    <dgm:cxn modelId="{BBAA56CC-4BE7-42BE-907C-DD1CD47CC283}" type="presParOf" srcId="{DA2F241E-8E40-43A1-B32F-B3A307C32B79}" destId="{1F850832-AE30-4862-A5D4-B9A3D2676C8F}" srcOrd="1" destOrd="0" presId="urn:microsoft.com/office/officeart/2005/8/layout/hierarchy1"/>
    <dgm:cxn modelId="{F796783B-8D8D-4BDC-999E-21B1ABF6FB10}" type="presParOf" srcId="{CE7142C5-AA92-4C0E-870F-3615592F647F}" destId="{0C03D214-C679-46D8-97B8-C229E5A3FDA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509FB9-D0AC-4613-AC76-56F1268A9995}">
      <dsp:nvSpPr>
        <dsp:cNvPr id="0" name=""/>
        <dsp:cNvSpPr/>
      </dsp:nvSpPr>
      <dsp:spPr>
        <a:xfrm>
          <a:off x="1346" y="89198"/>
          <a:ext cx="4725967" cy="3000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DF62E-8488-4F61-B255-7A28902D631D}">
      <dsp:nvSpPr>
        <dsp:cNvPr id="0" name=""/>
        <dsp:cNvSpPr/>
      </dsp:nvSpPr>
      <dsp:spPr>
        <a:xfrm>
          <a:off x="526453" y="588050"/>
          <a:ext cx="4725967" cy="3000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b="1" kern="1200"/>
            <a:t>AMD	</a:t>
          </a:r>
          <a:r>
            <a:rPr lang="pl-PL" sz="1500" kern="1200"/>
            <a:t> Buduje współpracę z największymi graczami. AWS i inni dostawcy chmur oferują instancje z procesorami EPYC (wszystkie kolejne generacje od 2018). Partnerzy w konsolach: Sony i Microsoft wybrali AMD (umowy na lata, gwarantujące dużą skalę produkcji APU). W sektorze automatyki i sieci AMD łączy siły z firmą Pensando (akceleratory sieciowe) oraz z firmami motoryzacyjnymi (BMW używa chipów AMD w samochodach). Po przejęciu Xilinx AMD ma głęboki dostęp do rynku FPGA (np. klientami są Cisco, Qualcomm). AMD także współpracuje z zespołami deweloperów gier (dla optymalizacji silników pod Ryzen/Radeon).</a:t>
          </a:r>
          <a:endParaRPr lang="en-US" sz="1500" kern="1200"/>
        </a:p>
      </dsp:txBody>
      <dsp:txXfrm>
        <a:off x="614349" y="675946"/>
        <a:ext cx="4550175" cy="2825197"/>
      </dsp:txXfrm>
    </dsp:sp>
    <dsp:sp modelId="{B75E024C-5ECB-4427-BCAF-1026E84ED4BB}">
      <dsp:nvSpPr>
        <dsp:cNvPr id="0" name=""/>
        <dsp:cNvSpPr/>
      </dsp:nvSpPr>
      <dsp:spPr>
        <a:xfrm>
          <a:off x="5777528" y="89198"/>
          <a:ext cx="4725967" cy="30009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850832-AE30-4862-A5D4-B9A3D2676C8F}">
      <dsp:nvSpPr>
        <dsp:cNvPr id="0" name=""/>
        <dsp:cNvSpPr/>
      </dsp:nvSpPr>
      <dsp:spPr>
        <a:xfrm>
          <a:off x="6302636" y="588050"/>
          <a:ext cx="4725967" cy="30009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500" b="1" kern="1200" dirty="0"/>
            <a:t>Intel	</a:t>
          </a:r>
          <a:r>
            <a:rPr lang="pl-PL" sz="1500" kern="1200" dirty="0"/>
            <a:t> Ma rozbudowaną sieć partnerów OEM (Dell, HP, Lenovo) – dostarcza im procesory do większości klasycznych PC. Prowadzi też zaawansowane partnerstwa technologiczne: z firmami oprogramowania (Microsoft, </a:t>
          </a:r>
          <a:r>
            <a:rPr lang="pl-PL" sz="1500" kern="1200" dirty="0" err="1"/>
            <a:t>VMware</a:t>
          </a:r>
          <a:r>
            <a:rPr lang="pl-PL" sz="1500" kern="1200" dirty="0"/>
            <a:t> – optymalizacja Windows/Linux pod </a:t>
          </a:r>
          <a:r>
            <a:rPr lang="pl-PL" sz="1500" kern="1200" dirty="0" err="1"/>
            <a:t>Core</a:t>
          </a:r>
          <a:r>
            <a:rPr lang="pl-PL" sz="1500" kern="1200" dirty="0"/>
            <a:t> i Xeon), z motoryzacyjną (</a:t>
          </a:r>
          <a:r>
            <a:rPr lang="pl-PL" sz="1500" kern="1200" dirty="0" err="1"/>
            <a:t>Mobileye</a:t>
          </a:r>
          <a:r>
            <a:rPr lang="pl-PL" sz="1500" kern="1200" dirty="0"/>
            <a:t> przy autonomicznych pojazdach), i z branżą 5G (m.in. fabryka w Chinach na potrzeby smartfonów 5G, później odsprzedana). W ramach Intel </a:t>
          </a:r>
          <a:r>
            <a:rPr lang="pl-PL" sz="1500" kern="1200" dirty="0" err="1"/>
            <a:t>Foundry</a:t>
          </a:r>
          <a:r>
            <a:rPr lang="pl-PL" sz="1500" kern="1200" dirty="0"/>
            <a:t> pozyskuje partnerów projektowych (</a:t>
          </a:r>
          <a:r>
            <a:rPr lang="pl-PL" sz="1500" kern="1200" dirty="0" err="1"/>
            <a:t>Synopsys</a:t>
          </a:r>
          <a:r>
            <a:rPr lang="pl-PL" sz="1500" kern="1200" dirty="0"/>
            <a:t>, </a:t>
          </a:r>
          <a:r>
            <a:rPr lang="pl-PL" sz="1500" kern="1200" dirty="0" err="1"/>
            <a:t>Cadence</a:t>
          </a:r>
          <a:r>
            <a:rPr lang="pl-PL" sz="1500" kern="1200" dirty="0"/>
            <a:t>, Siemens) oraz negocjuje umowy z potentatami (raporty mówią o rozmowach z Apple, Google, </a:t>
          </a:r>
          <a:r>
            <a:rPr lang="pl-PL" sz="1500" kern="1200" dirty="0" err="1"/>
            <a:t>Broadcom</a:t>
          </a:r>
          <a:r>
            <a:rPr lang="pl-PL" sz="1500" kern="1200" dirty="0"/>
            <a:t> czy nawet </a:t>
          </a:r>
          <a:r>
            <a:rPr lang="pl-PL" sz="1500" kern="1200" dirty="0" err="1"/>
            <a:t>Nvidią</a:t>
          </a:r>
          <a:r>
            <a:rPr lang="pl-PL" sz="1500" kern="1200" dirty="0"/>
            <a:t>).</a:t>
          </a:r>
          <a:endParaRPr lang="en-US" sz="1500" kern="1200" dirty="0"/>
        </a:p>
      </dsp:txBody>
      <dsp:txXfrm>
        <a:off x="6390532" y="675946"/>
        <a:ext cx="4550175" cy="2825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82B6034-51A1-494A-885C-F51711E4C1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840051E-B34E-458D-9BC8-55397CF27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5DA15F-C424-4768-8236-5D7E3BFE200D}" type="datetimeFigureOut">
              <a:rPr lang="pl-PL" smtClean="0"/>
              <a:t>27.03.2026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F85438D0-B383-41A6-8994-998FB3A49C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6233901-EEC2-4D54-B637-C54451C7C0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E20BC-0710-4DF2-B2B0-8382EA5778B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198482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9EE9B-3A37-49C7-BCBA-DC171864EB4C}" type="datetimeFigureOut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 noProof="0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noProof="0"/>
              <a:t>Edytuj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 noProof="0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B8C62-9C12-4CA2-96F0-A82CCBC62517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5407685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1856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2286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451CF-E27A-9A16-F704-77A26097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6DAFDB7-8F48-E726-C120-1D49188856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B7A0629-C08F-A14B-2A98-2D9ABA520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596E60E-9B20-CC96-E001-EB3F5A602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3762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728ED-D858-0A43-6B6C-792AD9629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783E0FA-9BDA-0538-A497-D91D5175B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CE65A09-BD31-C446-E22F-3E20B9E45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D403471-5C87-198A-2C75-7CA4169039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84098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6FAF2-EFC2-5360-BEBA-C6206D88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DACB239-880F-EF1F-9AE9-4967F4664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07C2A81-D03C-DE62-C07E-DCFF4FA0B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DFEAC20-2B68-AEF1-779F-2223CDC6A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7343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564F3-2DC1-EE4F-D634-C2B6247CF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18F957D-08A4-1367-8F32-70530B0FED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1B11B5F-42D7-E92A-CE28-15B2B69BA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29F2DAF6-106F-CAC7-FB61-B107A1CA3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556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8715-91AD-7116-E6BA-B3DB414C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D5C29FF-9FF7-180D-6800-0B81F7124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F184C00-2D8C-684C-EE63-1A045CA4D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5894259-5674-711D-CAB3-383877EC9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92422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D991-7D93-B5D9-7834-B9AAFB7E0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6D5B06F-B7CD-4539-B0EA-8EE333BC7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398581F-6C21-7385-429E-18CD7AF69F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334632C-4216-A112-AC1A-0B0DAD220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3468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69C92-5175-0DF7-3F10-F656C67A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7B76B8F-9E38-F607-CE3F-84181463E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8E5E123-C6D3-E32E-A990-62D4331DA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1C5C97F-FBD7-0CFB-D168-D25CAC004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0921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1A4C-508E-2614-BA05-AAC5A0CBA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0BACFE9-4DC8-DD3D-E31E-F73F28F50E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9959262-AF73-69F2-F89D-7B9660355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18008DF-0C92-3984-7FEF-225EDAAC8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9636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B269-C4FF-1A39-F841-0AD5E570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9930454-2EC7-25B4-C276-B362927C9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6907F888-905F-F395-7901-DC0A966DE6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89B237A-5BB8-0790-0A20-FC1AC50FE6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0032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BF216-CCEC-BB19-EC81-80EC515B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B0B38E27-55DB-CE46-38A4-D040D6963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F25429D-577A-DB47-B37F-3646D47DE8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90B3C67-C943-1BB9-A227-074B59C51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1666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EB083-EF04-108E-CAAE-4677179B9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3A2B38C-7221-5886-04EB-1006358FCE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0D82D617-B385-7646-AD43-115B5A52AB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56B0625-968E-1E41-0840-46DC251A2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78481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9C127-8700-9CC6-F70F-EE0D8F46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064C569B-0C93-9B2E-3AA4-41E59C955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01A780B-B7E5-1DB6-9C6F-73F5B69A9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166A290-2FF2-A526-471F-3C56934830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84875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36B8B-29DF-CF18-FF0A-3FDF96273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87BBACC-50E8-0D40-5772-E1333429B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74CB9046-1F0E-A970-EE58-C5EA3BD72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EE115EC-AC5B-3FF7-9F5F-A40269E80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4979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4A054-0A10-3A65-3D8F-CFEE9A8BD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175D9CA-B609-6FE3-A327-28DB2CE12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D674720-64E5-2317-FE19-38A15AC1F7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044FB82-0883-8BCF-562B-536DE2FBC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71964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1D887-CD8D-2D41-2A27-49CC3B20A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D2CC11D-8778-35F0-B08A-8236C1C5F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89B678EF-20C1-80D0-9010-BBB925982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9079FF3-3992-4B16-53AE-8F0201D1C7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9578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EE7B-8D01-BA4A-C667-6C55C7B3D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34483808-E286-9DBD-B2C6-7B55EEE79F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402E277-BDF7-BCA0-7ACF-577E89A11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6635311-F96C-3B0F-634A-A0279800BC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50558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20076-F2AD-CDC9-60F4-F15B1769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AC12F387-B66C-2910-BF16-8750ABDF61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E0E2B4FA-CD16-89BD-036A-6460337C1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9B1B6D0-0D1F-36D3-3AD6-8F0AE0B2C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081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5A96E-D463-31BD-FC24-CB592F80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853EEDC6-594D-707B-3211-0F5E5E1C8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F7D73BAA-3E53-0FCE-E0DD-9BBEE89F3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27CEA8B-F360-F1CD-41B0-7B3971439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20347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DEF0-C638-B7D9-7E61-D3A6FA5F9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E642796-4BA1-9AB0-7807-DF61923CA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CAE70544-CFB4-09ED-8F92-B1165CA9B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524EC49-180A-9A60-FC55-D9E609F99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59001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B8C62-9C12-4CA2-96F0-A82CCBC62517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7377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1AC4A13-6481-4582-BB79-BD37D717FC3D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126CB1-8836-400C-BDC9-63CBEDEFC2F1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952AD2F-DA0D-4B17-B21C-D1AC8B4F6BF8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E29DE5-1812-409B-B8B8-0FCC7A6D52B1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ostokąt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9E7E41-9F32-4816-BD05-9340B0A7EE1B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3FDA14-82E4-4BF6-AB70-0197ACE7F77C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7" name="Prostokąt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ytuł 1"/>
          <p:cNvSpPr>
            <a:spLocks noGrp="1"/>
          </p:cNvSpPr>
          <p:nvPr>
            <p:ph type="title" hasCustomPrompt="1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F84CDE-0CF0-4C5E-BA81-D20246B34F18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AFEEB41-A20A-4A13-BC55-A14827256CE1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4FFC71-8BDC-45C1-85DF-3FC3E495FD5C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ytuł 1"/>
          <p:cNvSpPr>
            <a:spLocks noGrp="1"/>
          </p:cNvSpPr>
          <p:nvPr>
            <p:ph type="title" hasCustomPrompt="1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01027C-9DB6-4116-9FAC-66CDDD9EA9F1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ostokąt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ytuł pionowy 1"/>
          <p:cNvSpPr>
            <a:spLocks noGrp="1"/>
          </p:cNvSpPr>
          <p:nvPr>
            <p:ph type="title" orient="vert" hasCustomPrompt="1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D0C6CF4-3DE5-43CE-B2CF-4EE7006E4780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802632-68F5-43AC-8124-047E67D8453D}" type="datetime1">
              <a:rPr lang="pl-PL" noProof="0" smtClean="0"/>
              <a:t>27.03.2026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9" name="Prostokąt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Prostokąt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Prostokąt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Prostokąt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7" name="Obraz 6" descr="Połączenia cyfrowe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a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Prostokąt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9" name="Prostokąt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0" name="Prostokąt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2" name="Prostokąt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715" y="4588525"/>
            <a:ext cx="10993549" cy="718263"/>
          </a:xfrm>
        </p:spPr>
        <p:txBody>
          <a:bodyPr rtlCol="0">
            <a:noAutofit/>
          </a:bodyPr>
          <a:lstStyle/>
          <a:p>
            <a:pPr rtl="0"/>
            <a:r>
              <a:rPr lang="pl-PL" dirty="0">
                <a:solidFill>
                  <a:schemeClr val="bg1"/>
                </a:solidFill>
              </a:rPr>
              <a:t>Instytucjonalne aspekty konkurencyjności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6760" y="5306788"/>
            <a:ext cx="2238480" cy="504077"/>
          </a:xfrm>
        </p:spPr>
        <p:txBody>
          <a:bodyPr rtlCol="0">
            <a:normAutofit/>
          </a:bodyPr>
          <a:lstStyle/>
          <a:p>
            <a:pPr rtl="0"/>
            <a:r>
              <a:rPr lang="pl-PL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Inel</a:t>
            </a:r>
            <a:r>
              <a:rPr lang="pl-PL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vs </a:t>
            </a:r>
            <a:r>
              <a:rPr lang="pl-PL" sz="24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amd</a:t>
            </a:r>
            <a:r>
              <a:rPr lang="pl-PL" sz="24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  <p:transition spd="slow">
    <p:comb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855406"/>
            <a:ext cx="3214059" cy="636442"/>
          </a:xfrm>
        </p:spPr>
        <p:txBody>
          <a:bodyPr rtlCol="0"/>
          <a:lstStyle/>
          <a:p>
            <a:pPr rtl="0"/>
            <a:r>
              <a:rPr lang="pl-PL" dirty="0"/>
              <a:t>Wprowadzenie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1666147-45F2-353F-0694-5225EA7248EA}"/>
              </a:ext>
            </a:extLst>
          </p:cNvPr>
          <p:cNvSpPr txBox="1"/>
          <p:nvPr/>
        </p:nvSpPr>
        <p:spPr>
          <a:xfrm>
            <a:off x="428164" y="2064774"/>
            <a:ext cx="11335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dirty="0">
                <a:latin typeface="Abadi ExtraLight" panose="020F0502020204030204" pitchFamily="34" charset="-18"/>
              </a:rPr>
              <a:t>Rynek półprzewodników i mikroprocesorów to dynamicznie zmieniająca się branża, w której kluczowe znaczenie ma innowacyjność technologiczna oraz efektywność produkcji. Firma AMD (Advanced Micro Devices) określa się mianem „lidera w dziedzinie wysokowydajnych i adaptacyjnych rozwiązań obliczeniowych”, zaś Intel stawia sobie za cel „tworzenie światowych technologii zmieniających życie każdego człowieka”. Obie firmy konkurują głównie w segmencie układów x86: procesorów desktopowych i mobilnych (klienckich), serwerowych oraz akceleratorów (GPU i FPGA). W tej prezentacji omówimy, jak AMD i Intel rywalizują na rynku, analizując ich produktowe portfolio, strategie, finanse oraz przewagi konkurencyjne.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916E71FA-9A47-4472-D6F2-8E127BF32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643" y="4573074"/>
            <a:ext cx="2628900" cy="17430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Obraz 19">
            <a:extLst>
              <a:ext uri="{FF2B5EF4-FFF2-40B4-BE49-F238E27FC236}">
                <a16:creationId xmlns:a16="http://schemas.microsoft.com/office/drawing/2014/main" id="{64536F9A-4AA1-6B73-25F6-A1B8F1C2FB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882" y="4573074"/>
            <a:ext cx="2857500" cy="1600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46151-A978-E847-AA88-1942592B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1318739-E4D2-26CB-19BA-37244C70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4400"/>
            <a:ext cx="2279995" cy="587280"/>
          </a:xfrm>
        </p:spPr>
        <p:txBody>
          <a:bodyPr rtlCol="0"/>
          <a:lstStyle/>
          <a:p>
            <a:pPr rtl="0"/>
            <a:r>
              <a:rPr lang="pl-PL" dirty="0"/>
              <a:t>Profil firm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B81C48A-D68D-2959-0419-C9AB7699E9D4}"/>
              </a:ext>
            </a:extLst>
          </p:cNvPr>
          <p:cNvSpPr txBox="1"/>
          <p:nvPr/>
        </p:nvSpPr>
        <p:spPr>
          <a:xfrm>
            <a:off x="473036" y="2054094"/>
            <a:ext cx="492487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latin typeface="Amasis MT Pro Light" panose="020F0502020204030204" pitchFamily="18" charset="-18"/>
              </a:rPr>
              <a:t>AMD</a:t>
            </a:r>
          </a:p>
          <a:p>
            <a:pPr algn="just"/>
            <a:r>
              <a:rPr lang="pl-PL" dirty="0">
                <a:latin typeface="Amasis MT Pro Light" panose="020F0502020204030204" pitchFamily="18" charset="-18"/>
              </a:rPr>
              <a:t>Założona w 1969 roku, od lat rozwija procesory i karty graficzne dla PC, serwerów, centrów danych i zastosowań wbudowanych. Firma zaktualizowała swoje portfolio, przejmując w 2022 r. firmę </a:t>
            </a:r>
            <a:r>
              <a:rPr lang="pl-PL" dirty="0" err="1">
                <a:latin typeface="Amasis MT Pro Light" panose="020F0502020204030204" pitchFamily="18" charset="-18"/>
              </a:rPr>
              <a:t>Xilinx</a:t>
            </a:r>
            <a:r>
              <a:rPr lang="pl-PL" dirty="0">
                <a:latin typeface="Amasis MT Pro Light" panose="020F0502020204030204" pitchFamily="18" charset="-18"/>
              </a:rPr>
              <a:t> – uznanego producenta układów FPGA i </a:t>
            </a:r>
            <a:r>
              <a:rPr lang="pl-PL" dirty="0" err="1">
                <a:latin typeface="Amasis MT Pro Light" panose="020F0502020204030204" pitchFamily="18" charset="-18"/>
              </a:rPr>
              <a:t>SoC</a:t>
            </a:r>
            <a:r>
              <a:rPr lang="pl-PL" dirty="0">
                <a:latin typeface="Amasis MT Pro Light" panose="020F0502020204030204" pitchFamily="18" charset="-18"/>
              </a:rPr>
              <a:t> – aby „zapewnić najszersze portfolio wysokowydajnych i adaptacyjnych rozwiązań obliczeniowych”. Misją AMD jest tworzenie świetnych produktów przyspieszających doświadczenia następnej generacji komputerów.</a:t>
            </a:r>
          </a:p>
          <a:p>
            <a:pPr algn="just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D8487EE1-F83F-766E-C083-B56B19B27EC6}"/>
              </a:ext>
            </a:extLst>
          </p:cNvPr>
          <p:cNvSpPr txBox="1"/>
          <p:nvPr/>
        </p:nvSpPr>
        <p:spPr>
          <a:xfrm>
            <a:off x="6685935" y="2054094"/>
            <a:ext cx="492487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>
                <a:latin typeface="Amasis MT Pro Light" panose="02040304050005020304" pitchFamily="18" charset="-18"/>
              </a:rPr>
              <a:t>Intel</a:t>
            </a:r>
            <a:endParaRPr lang="pl-PL" dirty="0">
              <a:latin typeface="Amasis MT Pro Light" panose="02040304050005020304" pitchFamily="18" charset="-18"/>
            </a:endParaRPr>
          </a:p>
          <a:p>
            <a:pPr algn="just"/>
            <a:r>
              <a:rPr lang="pl-PL" dirty="0">
                <a:latin typeface="Amasis MT Pro Light" panose="02040304050005020304" pitchFamily="18" charset="-18"/>
              </a:rPr>
              <a:t>Posiada ponad 50-letnią historię innowacji w projektowaniu i wytwarzaniu półprzewodników. Od zawsze kojarzony z architekturą x86, tworzy procesory dla komputerów osobistych, serwerów, urządzeń mobilnych oraz rozwiązań sieciowych. Intel podkreśla, że „buduje technologię, która podtrzymuje życie codzienne” i dostarcza „przełomowe rozwiązania”. Firma rozwija również segment akceleratorów AI i usług produkcyjnych (Intel </a:t>
            </a:r>
            <a:r>
              <a:rPr lang="pl-PL" dirty="0" err="1">
                <a:latin typeface="Amasis MT Pro Light" panose="02040304050005020304" pitchFamily="18" charset="-18"/>
              </a:rPr>
              <a:t>Foundry</a:t>
            </a:r>
            <a:r>
              <a:rPr lang="pl-PL" dirty="0">
                <a:latin typeface="Amasis MT Pro Light" panose="02040304050005020304" pitchFamily="18" charset="-18"/>
              </a:rPr>
              <a:t>) oraz technologie takie jak łącza </a:t>
            </a:r>
            <a:r>
              <a:rPr lang="pl-PL" dirty="0" err="1">
                <a:latin typeface="Amasis MT Pro Light" panose="02040304050005020304" pitchFamily="18" charset="-18"/>
              </a:rPr>
              <a:t>Thunderbolt</a:t>
            </a:r>
            <a:r>
              <a:rPr lang="pl-PL" dirty="0">
                <a:latin typeface="Amasis MT Pro Light" panose="02040304050005020304" pitchFamily="18" charset="-18"/>
              </a:rPr>
              <a:t> czy moduły 5G.</a:t>
            </a:r>
          </a:p>
          <a:p>
            <a:pPr algn="just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038794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5E13D-D278-41F1-7579-50243EAB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26BFD4-8D9B-B6D9-65C1-21CA5685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4400"/>
            <a:ext cx="8729956" cy="587280"/>
          </a:xfrm>
        </p:spPr>
        <p:txBody>
          <a:bodyPr rtlCol="0"/>
          <a:lstStyle/>
          <a:p>
            <a:pPr rtl="0"/>
            <a:r>
              <a:rPr lang="pl-PL" dirty="0"/>
              <a:t>Segmenty rynkowe i portfolio produktowe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F26158A-7A39-1EB6-E734-0343464EDCA1}"/>
              </a:ext>
            </a:extLst>
          </p:cNvPr>
          <p:cNvSpPr txBox="1"/>
          <p:nvPr/>
        </p:nvSpPr>
        <p:spPr>
          <a:xfrm>
            <a:off x="4417142" y="1955771"/>
            <a:ext cx="3357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dirty="0"/>
              <a:t>Procesory klienckie (PC)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9F4C315-9132-072F-E774-82BE439A4FF8}"/>
              </a:ext>
            </a:extLst>
          </p:cNvPr>
          <p:cNvSpPr txBox="1"/>
          <p:nvPr/>
        </p:nvSpPr>
        <p:spPr>
          <a:xfrm>
            <a:off x="581192" y="2782529"/>
            <a:ext cx="114043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b="1" i="1" dirty="0">
                <a:latin typeface="Amasis MT Pro Light" panose="02040304050005020304" pitchFamily="18" charset="-18"/>
              </a:rPr>
              <a:t>AMD </a:t>
            </a:r>
            <a:r>
              <a:rPr lang="pl-PL" b="1" i="1" dirty="0" err="1">
                <a:latin typeface="Amasis MT Pro Light" panose="02040304050005020304" pitchFamily="18" charset="-18"/>
              </a:rPr>
              <a:t>Ryzen</a:t>
            </a:r>
            <a:r>
              <a:rPr lang="pl-PL" b="1" dirty="0">
                <a:latin typeface="Amasis MT Pro Light" panose="02040304050005020304" pitchFamily="18" charset="-18"/>
              </a:rPr>
              <a:t> 	</a:t>
            </a:r>
            <a:r>
              <a:rPr lang="pl-PL" dirty="0">
                <a:latin typeface="Amasis MT Pro Light" panose="02040304050005020304" pitchFamily="18" charset="-18"/>
              </a:rPr>
              <a:t>Seria procesorów desktopowych i mobilnych (7 </a:t>
            </a:r>
            <a:r>
              <a:rPr lang="pl-PL" dirty="0" err="1">
                <a:latin typeface="Amasis MT Pro Light" panose="02040304050005020304" pitchFamily="18" charset="-18"/>
              </a:rPr>
              <a:t>nm</a:t>
            </a:r>
            <a:r>
              <a:rPr lang="pl-PL" dirty="0">
                <a:latin typeface="Amasis MT Pro Light" panose="02040304050005020304" pitchFamily="18" charset="-18"/>
              </a:rPr>
              <a:t>, architektura Zen), od kilkunastu lat zyskująca popularność dzięki konkurencyjnej wydajności wielowątkowej. W 2022 r. wprowadzono serię </a:t>
            </a:r>
            <a:r>
              <a:rPr lang="pl-PL" dirty="0" err="1">
                <a:latin typeface="Amasis MT Pro Light" panose="02040304050005020304" pitchFamily="18" charset="-18"/>
              </a:rPr>
              <a:t>Ryzen</a:t>
            </a:r>
            <a:r>
              <a:rPr lang="pl-PL" dirty="0">
                <a:latin typeface="Amasis MT Pro Light" panose="02040304050005020304" pitchFamily="18" charset="-18"/>
              </a:rPr>
              <a:t> 7000 (Zen 4) na procesie 5 </a:t>
            </a:r>
            <a:r>
              <a:rPr lang="pl-PL" dirty="0" err="1">
                <a:latin typeface="Amasis MT Pro Light" panose="02040304050005020304" pitchFamily="18" charset="-18"/>
              </a:rPr>
              <a:t>nm</a:t>
            </a:r>
            <a:r>
              <a:rPr lang="pl-PL" dirty="0">
                <a:latin typeface="Amasis MT Pro Light" panose="02040304050005020304" pitchFamily="18" charset="-18"/>
              </a:rPr>
              <a:t> od TSMC. AMD promuje je jako oferujące „dominującą wydajność i przewagę energetyczną” (np. do 47% lepsza efektywność energetyczna niż konkurencja).</a:t>
            </a:r>
          </a:p>
          <a:p>
            <a:endParaRPr lang="pl-PL" dirty="0">
              <a:latin typeface="Amasis MT Pro Light" panose="02040304050005020304" pitchFamily="18" charset="-18"/>
            </a:endParaRPr>
          </a:p>
          <a:p>
            <a:endParaRPr lang="pl-PL" dirty="0">
              <a:latin typeface="Amasis MT Pro Light" panose="02040304050005020304" pitchFamily="18" charset="-18"/>
            </a:endParaRPr>
          </a:p>
          <a:p>
            <a:endParaRPr lang="pl-PL" b="1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b="1" i="1" dirty="0">
                <a:latin typeface="Amasis MT Pro Light" panose="02040304050005020304" pitchFamily="18" charset="-18"/>
              </a:rPr>
              <a:t>Intel </a:t>
            </a:r>
            <a:r>
              <a:rPr lang="pl-PL" b="1" i="1" dirty="0" err="1">
                <a:latin typeface="Amasis MT Pro Light" panose="02040304050005020304" pitchFamily="18" charset="-18"/>
              </a:rPr>
              <a:t>Core</a:t>
            </a:r>
            <a:r>
              <a:rPr lang="pl-PL" b="1" i="1" dirty="0">
                <a:latin typeface="Amasis MT Pro Light" panose="02040304050005020304" pitchFamily="18" charset="-18"/>
              </a:rPr>
              <a:t> 	</a:t>
            </a:r>
            <a:r>
              <a:rPr lang="pl-PL" dirty="0">
                <a:latin typeface="Amasis MT Pro Light" panose="02040304050005020304" pitchFamily="18" charset="-18"/>
              </a:rPr>
              <a:t>Flagowa rodzina procesorów desktopowych i </a:t>
            </a:r>
            <a:r>
              <a:rPr lang="pl-PL" dirty="0" err="1">
                <a:latin typeface="Amasis MT Pro Light" panose="02040304050005020304" pitchFamily="18" charset="-18"/>
              </a:rPr>
              <a:t>laptopowych</a:t>
            </a:r>
            <a:r>
              <a:rPr lang="pl-PL" dirty="0">
                <a:latin typeface="Amasis MT Pro Light" panose="02040304050005020304" pitchFamily="18" charset="-18"/>
              </a:rPr>
              <a:t> (np. 14. generacja „</a:t>
            </a:r>
            <a:r>
              <a:rPr lang="pl-PL" dirty="0" err="1">
                <a:latin typeface="Amasis MT Pro Light" panose="02040304050005020304" pitchFamily="18" charset="-18"/>
              </a:rPr>
              <a:t>Raptor</a:t>
            </a:r>
            <a:r>
              <a:rPr lang="pl-PL" dirty="0">
                <a:latin typeface="Amasis MT Pro Light" panose="02040304050005020304" pitchFamily="18" charset="-18"/>
              </a:rPr>
              <a:t> Lake </a:t>
            </a:r>
            <a:r>
              <a:rPr lang="pl-PL" dirty="0" err="1">
                <a:latin typeface="Amasis MT Pro Light" panose="02040304050005020304" pitchFamily="18" charset="-18"/>
              </a:rPr>
              <a:t>Refresh</a:t>
            </a:r>
            <a:r>
              <a:rPr lang="pl-PL" dirty="0">
                <a:latin typeface="Amasis MT Pro Light" panose="02040304050005020304" pitchFamily="18" charset="-18"/>
              </a:rPr>
              <a:t>” z końca 2023 r.), oparta na hybrydowej architekturze (rdzenie Performance/</a:t>
            </a:r>
            <a:r>
              <a:rPr lang="pl-PL" dirty="0" err="1">
                <a:latin typeface="Amasis MT Pro Light" panose="02040304050005020304" pitchFamily="18" charset="-18"/>
              </a:rPr>
              <a:t>Efficient</a:t>
            </a:r>
            <a:r>
              <a:rPr lang="pl-PL" dirty="0">
                <a:latin typeface="Amasis MT Pro Light" panose="02040304050005020304" pitchFamily="18" charset="-18"/>
              </a:rPr>
              <a:t>). Intel oferuje jednostki o taktowaniach do 6 GHz i 24 rdzeniach (</a:t>
            </a:r>
            <a:r>
              <a:rPr lang="pl-PL" dirty="0" err="1">
                <a:latin typeface="Amasis MT Pro Light" panose="02040304050005020304" pitchFamily="18" charset="-18"/>
              </a:rPr>
              <a:t>Core</a:t>
            </a:r>
            <a:r>
              <a:rPr lang="pl-PL" dirty="0">
                <a:latin typeface="Amasis MT Pro Light" panose="02040304050005020304" pitchFamily="18" charset="-18"/>
              </a:rPr>
              <a:t> i9-14900K: 6 GHz, 24 rdzenie). Firma skupia się na wysokich częstotliwościach zegara i możliwości podkręcania (</a:t>
            </a:r>
            <a:r>
              <a:rPr lang="pl-PL" dirty="0" err="1">
                <a:latin typeface="Amasis MT Pro Light" panose="02040304050005020304" pitchFamily="18" charset="-18"/>
              </a:rPr>
              <a:t>overclocking</a:t>
            </a:r>
            <a:r>
              <a:rPr lang="pl-PL" dirty="0">
                <a:latin typeface="Amasis MT Pro Light" panose="02040304050005020304" pitchFamily="18" charset="-18"/>
              </a:rPr>
              <a:t>).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10868190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A37EF-5A40-FCC8-BE74-B75230F3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5C94E8-2951-E93D-B3EE-79EE9E9C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4400"/>
            <a:ext cx="8729956" cy="587280"/>
          </a:xfrm>
        </p:spPr>
        <p:txBody>
          <a:bodyPr rtlCol="0"/>
          <a:lstStyle/>
          <a:p>
            <a:pPr rtl="0"/>
            <a:r>
              <a:rPr lang="pl-PL" dirty="0"/>
              <a:t>Segmenty rynkowe i portfolio produktowe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A13B730-2C13-A8F9-CBEC-875E21C13E7C}"/>
              </a:ext>
            </a:extLst>
          </p:cNvPr>
          <p:cNvSpPr txBox="1"/>
          <p:nvPr/>
        </p:nvSpPr>
        <p:spPr>
          <a:xfrm>
            <a:off x="3590547" y="1911272"/>
            <a:ext cx="538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dirty="0"/>
              <a:t>Procesory serwerowe (centra danych)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B65B6FF-F4E5-8BA2-7146-22C8F98C3DFF}"/>
              </a:ext>
            </a:extLst>
          </p:cNvPr>
          <p:cNvSpPr txBox="1"/>
          <p:nvPr/>
        </p:nvSpPr>
        <p:spPr>
          <a:xfrm>
            <a:off x="581192" y="2782529"/>
            <a:ext cx="114043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b="1" i="1" dirty="0">
                <a:latin typeface="Amasis MT Pro Light" panose="02040304050005020304" pitchFamily="18" charset="-18"/>
              </a:rPr>
              <a:t>AMD EPYC	</a:t>
            </a:r>
            <a:r>
              <a:rPr lang="pl-PL" i="1" dirty="0">
                <a:latin typeface="Amasis MT Pro Light" panose="02040304050005020304" pitchFamily="18" charset="-18"/>
              </a:rPr>
              <a:t>	</a:t>
            </a:r>
            <a:r>
              <a:rPr lang="pl-PL" dirty="0">
                <a:latin typeface="Amasis MT Pro Light" panose="02040304050005020304" pitchFamily="18" charset="-18"/>
              </a:rPr>
              <a:t> Wielordzeniowe procesory serwerowe (do 96 rdzeni/192 wątków w rodzinie EPYC 9004, tzw. „</a:t>
            </a:r>
            <a:r>
              <a:rPr lang="pl-PL" dirty="0" err="1">
                <a:latin typeface="Amasis MT Pro Light" panose="02040304050005020304" pitchFamily="18" charset="-18"/>
              </a:rPr>
              <a:t>Genoa</a:t>
            </a:r>
            <a:r>
              <a:rPr lang="pl-PL" dirty="0">
                <a:latin typeface="Amasis MT Pro Light" panose="02040304050005020304" pitchFamily="18" charset="-18"/>
              </a:rPr>
              <a:t>” i „</a:t>
            </a:r>
            <a:r>
              <a:rPr lang="pl-PL" dirty="0" err="1">
                <a:latin typeface="Amasis MT Pro Light" panose="02040304050005020304" pitchFamily="18" charset="-18"/>
              </a:rPr>
              <a:t>Turin</a:t>
            </a:r>
            <a:r>
              <a:rPr lang="pl-PL" dirty="0">
                <a:latin typeface="Amasis MT Pro Light" panose="02040304050005020304" pitchFamily="18" charset="-18"/>
              </a:rPr>
              <a:t>”), stosowane w chmurze oraz HPC. AWS, Microsoft </a:t>
            </a:r>
            <a:r>
              <a:rPr lang="pl-PL" dirty="0" err="1">
                <a:latin typeface="Amasis MT Pro Light" panose="02040304050005020304" pitchFamily="18" charset="-18"/>
              </a:rPr>
              <a:t>Azure</a:t>
            </a:r>
            <a:r>
              <a:rPr lang="pl-PL" dirty="0">
                <a:latin typeface="Amasis MT Pro Light" panose="02040304050005020304" pitchFamily="18" charset="-18"/>
              </a:rPr>
              <a:t>, Google </a:t>
            </a:r>
            <a:r>
              <a:rPr lang="pl-PL" dirty="0" err="1">
                <a:latin typeface="Amasis MT Pro Light" panose="02040304050005020304" pitchFamily="18" charset="-18"/>
              </a:rPr>
              <a:t>Cloud</a:t>
            </a:r>
            <a:r>
              <a:rPr lang="pl-PL" dirty="0">
                <a:latin typeface="Amasis MT Pro Light" panose="02040304050005020304" pitchFamily="18" charset="-18"/>
              </a:rPr>
              <a:t> wdrożyły instancje oparte na EPYC. Na przykład Amazon EC2 M8a (5. generacja) korzysta z 5. gen. EPYC, dając do 30% wzrostu wydajności vs poprzednią generację.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l-PL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l-PL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l-PL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b="1" i="1" dirty="0">
                <a:latin typeface="Amasis MT Pro Light" panose="02040304050005020304" pitchFamily="18" charset="-18"/>
              </a:rPr>
              <a:t>Intel Xeon</a:t>
            </a:r>
            <a:r>
              <a:rPr lang="pl-PL" dirty="0">
                <a:latin typeface="Amasis MT Pro Light" panose="02040304050005020304" pitchFamily="18" charset="-18"/>
              </a:rPr>
              <a:t>	 Procesory serwerowe (Xeon Scalable) do centrów danych oraz stacji roboczych. Intel również wprowadza nowe generacje (m.in. </a:t>
            </a:r>
            <a:r>
              <a:rPr lang="pl-PL" dirty="0" err="1">
                <a:latin typeface="Amasis MT Pro Light" panose="02040304050005020304" pitchFamily="18" charset="-18"/>
              </a:rPr>
              <a:t>Sapphire</a:t>
            </a:r>
            <a:r>
              <a:rPr lang="pl-PL" dirty="0">
                <a:latin typeface="Amasis MT Pro Light" panose="02040304050005020304" pitchFamily="18" charset="-18"/>
              </a:rPr>
              <a:t> Rapids, </a:t>
            </a:r>
            <a:r>
              <a:rPr lang="pl-PL" dirty="0" err="1">
                <a:latin typeface="Amasis MT Pro Light" panose="02040304050005020304" pitchFamily="18" charset="-18"/>
              </a:rPr>
              <a:t>Granite</a:t>
            </a:r>
            <a:r>
              <a:rPr lang="pl-PL" dirty="0">
                <a:latin typeface="Amasis MT Pro Light" panose="02040304050005020304" pitchFamily="18" charset="-18"/>
              </a:rPr>
              <a:t> Rapids) z coraz większą liczbą rdzeni i wbudowanymi akceleratorami AI. Intel stawia na integrację CPU z elementami AI (np. Intel </a:t>
            </a:r>
            <a:r>
              <a:rPr lang="pl-PL" dirty="0" err="1">
                <a:latin typeface="Amasis MT Pro Light" panose="02040304050005020304" pitchFamily="18" charset="-18"/>
              </a:rPr>
              <a:t>Deep</a:t>
            </a:r>
            <a:r>
              <a:rPr lang="pl-PL" dirty="0">
                <a:latin typeface="Amasis MT Pro Light" panose="02040304050005020304" pitchFamily="18" charset="-18"/>
              </a:rPr>
              <a:t> Learning </a:t>
            </a:r>
            <a:r>
              <a:rPr lang="pl-PL" dirty="0" err="1">
                <a:latin typeface="Amasis MT Pro Light" panose="02040304050005020304" pitchFamily="18" charset="-18"/>
              </a:rPr>
              <a:t>Boost</a:t>
            </a:r>
            <a:r>
              <a:rPr lang="pl-PL" dirty="0">
                <a:latin typeface="Amasis MT Pro Light" panose="02040304050005020304" pitchFamily="18" charset="-18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77618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3FD8-A77E-15C2-7658-F00F0CFB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5662E3-ABCF-B51F-EE82-5D08006F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4400"/>
            <a:ext cx="8729956" cy="587280"/>
          </a:xfrm>
        </p:spPr>
        <p:txBody>
          <a:bodyPr rtlCol="0"/>
          <a:lstStyle/>
          <a:p>
            <a:pPr rtl="0"/>
            <a:r>
              <a:rPr lang="pl-PL" dirty="0"/>
              <a:t>Segmenty rynkowe i portfolio produktowe</a:t>
            </a: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3060C215-3111-C5D2-DC15-ECCF18B8FFFE}"/>
              </a:ext>
            </a:extLst>
          </p:cNvPr>
          <p:cNvSpPr txBox="1"/>
          <p:nvPr/>
        </p:nvSpPr>
        <p:spPr>
          <a:xfrm>
            <a:off x="5030086" y="1911272"/>
            <a:ext cx="2131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400" dirty="0"/>
              <a:t>Karty graficzne 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03EF6C7-9A69-0F88-B53C-693382A85CC2}"/>
              </a:ext>
            </a:extLst>
          </p:cNvPr>
          <p:cNvSpPr txBox="1"/>
          <p:nvPr/>
        </p:nvSpPr>
        <p:spPr>
          <a:xfrm>
            <a:off x="581192" y="2782529"/>
            <a:ext cx="114043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b="1" i="1" dirty="0">
                <a:latin typeface="Amasis MT Pro Light" panose="02040304050005020304" pitchFamily="18" charset="-18"/>
              </a:rPr>
              <a:t>AMD </a:t>
            </a:r>
            <a:r>
              <a:rPr lang="pl-PL" b="1" i="1" dirty="0" err="1">
                <a:latin typeface="Amasis MT Pro Light" panose="02040304050005020304" pitchFamily="18" charset="-18"/>
              </a:rPr>
              <a:t>Radeon</a:t>
            </a:r>
            <a:r>
              <a:rPr lang="pl-PL" i="1" dirty="0">
                <a:latin typeface="Amasis MT Pro Light" panose="02040304050005020304" pitchFamily="18" charset="-18"/>
              </a:rPr>
              <a:t>	</a:t>
            </a:r>
            <a:r>
              <a:rPr lang="pl-PL" dirty="0">
                <a:latin typeface="Amasis MT Pro Light" panose="02040304050005020304" pitchFamily="18" charset="-18"/>
              </a:rPr>
              <a:t>GPU dla PC, centrów danych i HPC. AMD oferuje samodzielne karty graficzne do gier oraz akceleratory obliczeniowe Instinct dla AI. Po przejęciu </a:t>
            </a:r>
            <a:r>
              <a:rPr lang="pl-PL" dirty="0" err="1">
                <a:latin typeface="Amasis MT Pro Light" panose="02040304050005020304" pitchFamily="18" charset="-18"/>
              </a:rPr>
              <a:t>Xilinx</a:t>
            </a:r>
            <a:r>
              <a:rPr lang="pl-PL" dirty="0">
                <a:latin typeface="Amasis MT Pro Light" panose="02040304050005020304" pitchFamily="18" charset="-18"/>
              </a:rPr>
              <a:t> rozszerza ofertę o układy FPGA/</a:t>
            </a:r>
            <a:r>
              <a:rPr lang="pl-PL" dirty="0" err="1">
                <a:latin typeface="Amasis MT Pro Light" panose="02040304050005020304" pitchFamily="18" charset="-18"/>
              </a:rPr>
              <a:t>SoC</a:t>
            </a:r>
            <a:r>
              <a:rPr lang="pl-PL" dirty="0">
                <a:latin typeface="Amasis MT Pro Light" panose="02040304050005020304" pitchFamily="18" charset="-18"/>
              </a:rPr>
              <a:t> (seria </a:t>
            </a:r>
            <a:r>
              <a:rPr lang="pl-PL" dirty="0" err="1">
                <a:latin typeface="Amasis MT Pro Light" panose="02040304050005020304" pitchFamily="18" charset="-18"/>
              </a:rPr>
              <a:t>Alveo</a:t>
            </a:r>
            <a:r>
              <a:rPr lang="pl-PL" dirty="0">
                <a:latin typeface="Amasis MT Pro Light" panose="02040304050005020304" pitchFamily="18" charset="-18"/>
              </a:rPr>
              <a:t>, </a:t>
            </a:r>
            <a:r>
              <a:rPr lang="pl-PL" dirty="0" err="1">
                <a:latin typeface="Amasis MT Pro Light" panose="02040304050005020304" pitchFamily="18" charset="-18"/>
              </a:rPr>
              <a:t>Pensando</a:t>
            </a:r>
            <a:r>
              <a:rPr lang="pl-PL" dirty="0">
                <a:latin typeface="Amasis MT Pro Light" panose="02040304050005020304" pitchFamily="18" charset="-18"/>
              </a:rPr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l-PL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l-PL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pl-PL" dirty="0">
              <a:latin typeface="Amasis MT Pro Light" panose="02040304050005020304" pitchFamily="18" charset="-18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b="1" i="1" dirty="0">
                <a:latin typeface="Amasis MT Pro Light" panose="02040304050005020304" pitchFamily="18" charset="-18"/>
              </a:rPr>
              <a:t>Intel Arc</a:t>
            </a:r>
            <a:r>
              <a:rPr lang="pl-PL" b="1" dirty="0">
                <a:latin typeface="Amasis MT Pro Light" panose="02040304050005020304" pitchFamily="18" charset="-18"/>
              </a:rPr>
              <a:t> i zintegrowane GPU</a:t>
            </a:r>
            <a:r>
              <a:rPr lang="pl-PL" dirty="0">
                <a:latin typeface="Amasis MT Pro Light" panose="02040304050005020304" pitchFamily="18" charset="-18"/>
              </a:rPr>
              <a:t>	 Intel rozwija dedykowane GPU Arc (tylko 1. generacja dotąd) oraz układy zintegrowane w procesorach (</a:t>
            </a:r>
            <a:r>
              <a:rPr lang="pl-PL" dirty="0" err="1">
                <a:latin typeface="Amasis MT Pro Light" panose="02040304050005020304" pitchFamily="18" charset="-18"/>
              </a:rPr>
              <a:t>Iris</a:t>
            </a:r>
            <a:r>
              <a:rPr lang="pl-PL" dirty="0">
                <a:latin typeface="Amasis MT Pro Light" panose="02040304050005020304" pitchFamily="18" charset="-18"/>
              </a:rPr>
              <a:t> Xe). Planuje również akceleratory AI.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6023069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BE7D0-0A69-A462-A287-61883EF65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1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5CC2B463-6BD5-411E-A3CA-67A9FE003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E83E6F24-3E64-4893-9F13-7BEE01C84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9"/>
            <a:ext cx="7498616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26E081B-B1F6-D1E0-9B2A-80FCD885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Strategie konkurencyjne i technologiczne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EB054201-D560-698E-9B73-6DFCE702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66" y="2217610"/>
            <a:ext cx="2716911" cy="2716911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CCC477A4-EAC7-80DA-FCA7-4600182FE490}"/>
              </a:ext>
            </a:extLst>
          </p:cNvPr>
          <p:cNvSpPr txBox="1"/>
          <p:nvPr/>
        </p:nvSpPr>
        <p:spPr>
          <a:xfrm>
            <a:off x="4579243" y="4373249"/>
            <a:ext cx="33134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sz="1600" dirty="0">
                <a:solidFill>
                  <a:schemeClr val="bg1"/>
                </a:solidFill>
              </a:rPr>
              <a:t>Wydajność i cena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sz="1600" dirty="0">
                <a:solidFill>
                  <a:schemeClr val="bg1"/>
                </a:solidFill>
              </a:rPr>
              <a:t>Innowacje technologiczne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sz="1600" dirty="0">
                <a:solidFill>
                  <a:schemeClr val="bg1"/>
                </a:solidFill>
              </a:rPr>
              <a:t>Obecna strategia rynkowa</a:t>
            </a:r>
          </a:p>
        </p:txBody>
      </p: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C4F912AA-533D-CF00-8DA0-225DC9023F5A}"/>
              </a:ext>
            </a:extLst>
          </p:cNvPr>
          <p:cNvCxnSpPr/>
          <p:nvPr/>
        </p:nvCxnSpPr>
        <p:spPr>
          <a:xfrm>
            <a:off x="4542273" y="3657600"/>
            <a:ext cx="699974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9091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C153-6BD2-F5DD-7589-5AE77F09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ACB93D-770C-F3E2-3DA8-916EB61F2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4400"/>
            <a:ext cx="8729956" cy="587280"/>
          </a:xfrm>
        </p:spPr>
        <p:txBody>
          <a:bodyPr rtlCol="0"/>
          <a:lstStyle/>
          <a:p>
            <a:pPr rtl="0"/>
            <a:r>
              <a:rPr lang="pl-PL" dirty="0"/>
              <a:t>Wydajność i cena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45251AB-FCBB-48E9-2E1D-9E674E90FA2D}"/>
              </a:ext>
            </a:extLst>
          </p:cNvPr>
          <p:cNvSpPr txBox="1"/>
          <p:nvPr/>
        </p:nvSpPr>
        <p:spPr>
          <a:xfrm>
            <a:off x="1495048" y="2413337"/>
            <a:ext cx="92019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b="1" dirty="0">
                <a:latin typeface="Amasis MT Pro Light" panose="02040304050005020304" pitchFamily="18" charset="-18"/>
              </a:rPr>
              <a:t>Wydajność i cena</a:t>
            </a:r>
            <a:r>
              <a:rPr lang="pl-PL" dirty="0">
                <a:latin typeface="Amasis MT Pro Light" panose="02040304050005020304" pitchFamily="18" charset="-18"/>
              </a:rPr>
              <a:t>: AMD w ostatnich latach atakowało Intel agresywną polityką cenową i wielordzeniową architekturą. Dzięki niższemu procesowi technologicznemu (5–7 </a:t>
            </a:r>
            <a:r>
              <a:rPr lang="pl-PL" dirty="0" err="1">
                <a:latin typeface="Amasis MT Pro Light" panose="02040304050005020304" pitchFamily="18" charset="-18"/>
              </a:rPr>
              <a:t>nm</a:t>
            </a:r>
            <a:r>
              <a:rPr lang="pl-PL" dirty="0">
                <a:latin typeface="Amasis MT Pro Light" panose="02040304050005020304" pitchFamily="18" charset="-18"/>
              </a:rPr>
              <a:t> od TSMC) oferuje więcej rdzeni przy mniejszym zużyciu mocy, co zwiększa wydajność wielowątkową. Intel odrabia straty, podnosząc taktowania (6 GHz) i łącząc rdzenie P- i E-</a:t>
            </a:r>
            <a:r>
              <a:rPr lang="pl-PL" dirty="0" err="1">
                <a:latin typeface="Amasis MT Pro Light" panose="02040304050005020304" pitchFamily="18" charset="-18"/>
              </a:rPr>
              <a:t>kernel</a:t>
            </a:r>
            <a:r>
              <a:rPr lang="pl-PL" dirty="0">
                <a:latin typeface="Amasis MT Pro Light" panose="02040304050005020304" pitchFamily="18" charset="-18"/>
              </a:rPr>
              <a:t>, aby utrzymać przewagę w zadaniach jednowątkowych. Obie firmy inwestują w procesy litograficzne: Intel prezentuje właśnie proces 18A (najnowocześniejszy rozwijany w USA), a AMD planuje kolejne generacje w współpracy z TSMC.</a:t>
            </a:r>
          </a:p>
        </p:txBody>
      </p:sp>
    </p:spTree>
    <p:extLst>
      <p:ext uri="{BB962C8B-B14F-4D97-AF65-F5344CB8AC3E}">
        <p14:creationId xmlns:p14="http://schemas.microsoft.com/office/powerpoint/2010/main" val="1107114443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93DDC1-EDE2-0047-E1A2-51EBE7248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078A52F-85EA-4C0B-962B-D9D9DD4DD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9797D5-5700-4683-B30A-5B4D56CB8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56A7B9-9801-42EC-A4C9-7E22A56EF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54DB8-C150-4290-85D6-F5B0262BF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7C35B5F-59FB-4E4A-A4E6-85CC504D7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86F10-BAB3-08F4-F2BF-442BE3FE06C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alphaModFix amt="2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9000"/>
                    </a14:imgEffect>
                    <a14:imgEffect>
                      <a14:brightnessContrast contrast="-3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66203B4-6411-4E9D-AAC1-D798EF731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8" y="457200"/>
            <a:ext cx="3703320" cy="5935132"/>
            <a:chOff x="438068" y="457200"/>
            <a:chExt cx="3703320" cy="59351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10D9114-A47D-47E3-9417-1858C7C68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618067"/>
              <a:ext cx="3702134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E6705EF-CBA4-4963-9FCA-08B2780142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2" name="Tytuł 1">
            <a:extLst>
              <a:ext uri="{FF2B5EF4-FFF2-40B4-BE49-F238E27FC236}">
                <a16:creationId xmlns:a16="http://schemas.microsoft.com/office/drawing/2014/main" id="{4517DA32-9EFB-3CD8-14DF-D474FA505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101" y="1099848"/>
            <a:ext cx="3412067" cy="11025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500" dirty="0" err="1"/>
              <a:t>Innowacje</a:t>
            </a:r>
            <a:r>
              <a:rPr lang="en-US" sz="2500" dirty="0"/>
              <a:t>  </a:t>
            </a:r>
            <a:r>
              <a:rPr lang="en-US" sz="2500" dirty="0" err="1"/>
              <a:t>technologiczne</a:t>
            </a:r>
            <a:endParaRPr lang="en-US" sz="2500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F1269C4C-6073-E075-5DBD-7B1156C3B3AF}"/>
              </a:ext>
            </a:extLst>
          </p:cNvPr>
          <p:cNvSpPr txBox="1"/>
          <p:nvPr/>
        </p:nvSpPr>
        <p:spPr>
          <a:xfrm>
            <a:off x="4578250" y="994031"/>
            <a:ext cx="69571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i="1" dirty="0">
                <a:latin typeface="Amasis MT Pro Light" panose="02040304050005020304" pitchFamily="18" charset="-18"/>
              </a:rPr>
              <a:t>AMD	</a:t>
            </a:r>
            <a:r>
              <a:rPr lang="pl-PL" b="1" dirty="0">
                <a:latin typeface="Amasis MT Pro Light" panose="02040304050005020304" pitchFamily="18" charset="-18"/>
              </a:rPr>
              <a:t> </a:t>
            </a:r>
            <a:r>
              <a:rPr lang="pl-PL" dirty="0">
                <a:latin typeface="Amasis MT Pro Light" panose="02040304050005020304" pitchFamily="18" charset="-18"/>
              </a:rPr>
              <a:t>Podkreśla nowatorską architekturę Zen (obecnie 4. generacja), technologię 3D V-Cache (dodatkowa pamięć cache) oraz połączenie z FPGA (</a:t>
            </a:r>
            <a:r>
              <a:rPr lang="pl-PL" dirty="0" err="1">
                <a:latin typeface="Amasis MT Pro Light" panose="02040304050005020304" pitchFamily="18" charset="-18"/>
              </a:rPr>
              <a:t>Xilinx</a:t>
            </a:r>
            <a:r>
              <a:rPr lang="pl-PL" dirty="0">
                <a:latin typeface="Amasis MT Pro Light" panose="02040304050005020304" pitchFamily="18" charset="-18"/>
              </a:rPr>
              <a:t>). W obszarze AI rozwija akceleratory MI100/Mi200 i wspiera oprogramowanie </a:t>
            </a:r>
            <a:r>
              <a:rPr lang="pl-PL" dirty="0" err="1">
                <a:latin typeface="Amasis MT Pro Light" panose="02040304050005020304" pitchFamily="18" charset="-18"/>
              </a:rPr>
              <a:t>ROCm</a:t>
            </a:r>
            <a:r>
              <a:rPr lang="pl-PL" dirty="0">
                <a:latin typeface="Amasis MT Pro Light" panose="02040304050005020304" pitchFamily="18" charset="-18"/>
              </a:rPr>
              <a:t>. AMD zwraca też uwagę na efektywność energetyczną («performance-per-</a:t>
            </a:r>
            <a:r>
              <a:rPr lang="pl-PL" dirty="0" err="1">
                <a:latin typeface="Amasis MT Pro Light" panose="02040304050005020304" pitchFamily="18" charset="-18"/>
              </a:rPr>
              <a:t>watt</a:t>
            </a:r>
            <a:r>
              <a:rPr lang="pl-PL" dirty="0">
                <a:latin typeface="Amasis MT Pro Light" panose="02040304050005020304" pitchFamily="18" charset="-18"/>
              </a:rPr>
              <a:t>»).</a:t>
            </a:r>
          </a:p>
          <a:p>
            <a:endParaRPr lang="pl-PL" dirty="0">
              <a:latin typeface="Amasis MT Pro Light" panose="02040304050005020304" pitchFamily="18" charset="-18"/>
            </a:endParaRPr>
          </a:p>
          <a:p>
            <a:endParaRPr lang="pl-PL" dirty="0">
              <a:latin typeface="Amasis MT Pro Light" panose="02040304050005020304" pitchFamily="18" charset="-18"/>
            </a:endParaRPr>
          </a:p>
          <a:p>
            <a:r>
              <a:rPr lang="pl-PL" b="1" i="1" dirty="0">
                <a:latin typeface="Amasis MT Pro Light" panose="02040304050005020304" pitchFamily="18" charset="-18"/>
              </a:rPr>
              <a:t>Intel		</a:t>
            </a:r>
            <a:r>
              <a:rPr lang="pl-PL" dirty="0">
                <a:latin typeface="Amasis MT Pro Light" panose="02040304050005020304" pitchFamily="18" charset="-18"/>
              </a:rPr>
              <a:t> Duży nacisk kładzie na rozwój narzędzi dla deweloperów (np. Intel </a:t>
            </a:r>
            <a:r>
              <a:rPr lang="pl-PL" dirty="0" err="1">
                <a:latin typeface="Amasis MT Pro Light" panose="02040304050005020304" pitchFamily="18" charset="-18"/>
              </a:rPr>
              <a:t>Thread</a:t>
            </a:r>
            <a:r>
              <a:rPr lang="pl-PL" dirty="0">
                <a:latin typeface="Amasis MT Pro Light" panose="02040304050005020304" pitchFamily="18" charset="-18"/>
              </a:rPr>
              <a:t> </a:t>
            </a:r>
            <a:r>
              <a:rPr lang="pl-PL" dirty="0" err="1">
                <a:latin typeface="Amasis MT Pro Light" panose="02040304050005020304" pitchFamily="18" charset="-18"/>
              </a:rPr>
              <a:t>Director</a:t>
            </a:r>
            <a:r>
              <a:rPr lang="pl-PL" dirty="0">
                <a:latin typeface="Amasis MT Pro Light" panose="02040304050005020304" pitchFamily="18" charset="-18"/>
              </a:rPr>
              <a:t> optymalizujący obciążenia na rdzeniach P/E) oraz na ekosystem AI/ML (</a:t>
            </a:r>
            <a:r>
              <a:rPr lang="pl-PL" dirty="0" err="1">
                <a:latin typeface="Amasis MT Pro Light" panose="02040304050005020304" pitchFamily="18" charset="-18"/>
              </a:rPr>
              <a:t>Deep</a:t>
            </a:r>
            <a:r>
              <a:rPr lang="pl-PL" dirty="0">
                <a:latin typeface="Amasis MT Pro Light" panose="02040304050005020304" pitchFamily="18" charset="-18"/>
              </a:rPr>
              <a:t> Learning </a:t>
            </a:r>
            <a:r>
              <a:rPr lang="pl-PL" dirty="0" err="1">
                <a:latin typeface="Amasis MT Pro Light" panose="02040304050005020304" pitchFamily="18" charset="-18"/>
              </a:rPr>
              <a:t>Boost</a:t>
            </a:r>
            <a:r>
              <a:rPr lang="pl-PL" dirty="0">
                <a:latin typeface="Amasis MT Pro Light" panose="02040304050005020304" pitchFamily="18" charset="-18"/>
              </a:rPr>
              <a:t>). Rozwija układy AI (</a:t>
            </a:r>
            <a:r>
              <a:rPr lang="pl-PL" dirty="0" err="1">
                <a:latin typeface="Amasis MT Pro Light" panose="02040304050005020304" pitchFamily="18" charset="-18"/>
              </a:rPr>
              <a:t>Habana</a:t>
            </a:r>
            <a:r>
              <a:rPr lang="pl-PL" dirty="0">
                <a:latin typeface="Amasis MT Pro Light" panose="02040304050005020304" pitchFamily="18" charset="-18"/>
              </a:rPr>
              <a:t>, niedawno przejętego za 2 mld USD) i akceleratory dla centrów danych (FPGA i FPGA </a:t>
            </a:r>
            <a:r>
              <a:rPr lang="pl-PL" dirty="0" err="1">
                <a:latin typeface="Amasis MT Pro Light" panose="02040304050005020304" pitchFamily="18" charset="-18"/>
              </a:rPr>
              <a:t>Altera</a:t>
            </a:r>
            <a:r>
              <a:rPr lang="pl-PL" dirty="0">
                <a:latin typeface="Amasis MT Pro Light" panose="02040304050005020304" pitchFamily="18" charset="-18"/>
              </a:rPr>
              <a:t>, która po trudnych doświadczeniach jest teraz wspólnie z Silver Lake). Intel angażuje się też we współpracę z branżą EDA – np. partneruje firmom </a:t>
            </a:r>
            <a:r>
              <a:rPr lang="pl-PL" dirty="0" err="1">
                <a:latin typeface="Amasis MT Pro Light" panose="02040304050005020304" pitchFamily="18" charset="-18"/>
              </a:rPr>
              <a:t>Synopsys</a:t>
            </a:r>
            <a:r>
              <a:rPr lang="pl-PL" dirty="0">
                <a:latin typeface="Amasis MT Pro Light" panose="02040304050005020304" pitchFamily="18" charset="-18"/>
              </a:rPr>
              <a:t>, </a:t>
            </a:r>
            <a:r>
              <a:rPr lang="pl-PL" dirty="0" err="1">
                <a:latin typeface="Amasis MT Pro Light" panose="02040304050005020304" pitchFamily="18" charset="-18"/>
              </a:rPr>
              <a:t>Cadence</a:t>
            </a:r>
            <a:r>
              <a:rPr lang="pl-PL" dirty="0">
                <a:latin typeface="Amasis MT Pro Light" panose="02040304050005020304" pitchFamily="18" charset="-18"/>
              </a:rPr>
              <a:t>, Siemens EDA przy rozwijaniu kolejnych węzłów technologicznych.</a:t>
            </a:r>
          </a:p>
        </p:txBody>
      </p:sp>
    </p:spTree>
    <p:extLst>
      <p:ext uri="{BB962C8B-B14F-4D97-AF65-F5344CB8AC3E}">
        <p14:creationId xmlns:p14="http://schemas.microsoft.com/office/powerpoint/2010/main" val="3505924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0E26E2-C511-9A56-0D81-1E886D027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351C07-BBB7-41FC-A861-A4995D05E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6"/>
            <a:ext cx="3409783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600" dirty="0" err="1"/>
              <a:t>Obecna</a:t>
            </a:r>
            <a:r>
              <a:rPr lang="en-US" sz="2600" dirty="0"/>
              <a:t> </a:t>
            </a:r>
            <a:r>
              <a:rPr lang="en-US" sz="2600" dirty="0" err="1"/>
              <a:t>strategia</a:t>
            </a:r>
            <a:r>
              <a:rPr lang="en-US" sz="2600" dirty="0"/>
              <a:t> </a:t>
            </a:r>
            <a:r>
              <a:rPr lang="en-US" sz="2600" dirty="0" err="1"/>
              <a:t>rynkowa</a:t>
            </a:r>
            <a:endParaRPr lang="en-US" sz="260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FF7A668-C3FD-8ABD-89D9-6B7CF412CB15}"/>
              </a:ext>
            </a:extLst>
          </p:cNvPr>
          <p:cNvSpPr txBox="1"/>
          <p:nvPr/>
        </p:nvSpPr>
        <p:spPr>
          <a:xfrm>
            <a:off x="591224" y="1715955"/>
            <a:ext cx="3409782" cy="4350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pl-PL" sz="1200" b="1" i="1" dirty="0">
                <a:solidFill>
                  <a:schemeClr val="bg1"/>
                </a:solidFill>
              </a:rPr>
              <a:t>AMD		</a:t>
            </a:r>
            <a:r>
              <a:rPr lang="pl-PL" sz="1200" dirty="0">
                <a:solidFill>
                  <a:schemeClr val="bg1"/>
                </a:solidFill>
              </a:rPr>
              <a:t> Według CEO Lisy </a:t>
            </a:r>
            <a:r>
              <a:rPr lang="pl-PL" sz="1200" dirty="0" err="1">
                <a:solidFill>
                  <a:schemeClr val="bg1"/>
                </a:solidFill>
              </a:rPr>
              <a:t>Su</a:t>
            </a:r>
            <a:r>
              <a:rPr lang="pl-PL" sz="1200" dirty="0">
                <a:solidFill>
                  <a:schemeClr val="bg1"/>
                </a:solidFill>
              </a:rPr>
              <a:t> „2025 był rokiem przełomowym, z rekordowymi przychodami napędzanymi przez szerokie zapotrzebowanie na nasze platformy HPC i AI – głównie procesory EPYC i </a:t>
            </a:r>
            <a:r>
              <a:rPr lang="pl-PL" sz="1200" dirty="0" err="1">
                <a:solidFill>
                  <a:schemeClr val="bg1"/>
                </a:solidFill>
              </a:rPr>
              <a:t>Ryzen</a:t>
            </a:r>
            <a:r>
              <a:rPr lang="pl-PL" sz="1200" dirty="0">
                <a:solidFill>
                  <a:schemeClr val="bg1"/>
                </a:solidFill>
              </a:rPr>
              <a:t> oraz rosnącą dziedzinę AI w centrach danych”. Firma inwestuje w rozszerzanie obecności w chmurach (AWS, </a:t>
            </a:r>
            <a:r>
              <a:rPr lang="pl-PL" sz="1200" dirty="0" err="1">
                <a:solidFill>
                  <a:schemeClr val="bg1"/>
                </a:solidFill>
              </a:rPr>
              <a:t>Azure</a:t>
            </a:r>
            <a:r>
              <a:rPr lang="pl-PL" sz="1200" dirty="0">
                <a:solidFill>
                  <a:schemeClr val="bg1"/>
                </a:solidFill>
              </a:rPr>
              <a:t>, Google) i na rynku </a:t>
            </a:r>
            <a:r>
              <a:rPr lang="pl-PL" sz="1200" dirty="0" err="1">
                <a:solidFill>
                  <a:schemeClr val="bg1"/>
                </a:solidFill>
              </a:rPr>
              <a:t>enterprise</a:t>
            </a:r>
            <a:r>
              <a:rPr lang="pl-PL" sz="1200" dirty="0">
                <a:solidFill>
                  <a:schemeClr val="bg1"/>
                </a:solidFill>
              </a:rPr>
              <a:t>. Po przejęciu </a:t>
            </a:r>
            <a:r>
              <a:rPr lang="pl-PL" sz="1200" dirty="0" err="1">
                <a:solidFill>
                  <a:schemeClr val="bg1"/>
                </a:solidFill>
              </a:rPr>
              <a:t>Xilinx</a:t>
            </a:r>
            <a:r>
              <a:rPr lang="pl-PL" sz="1200" dirty="0">
                <a:solidFill>
                  <a:schemeClr val="bg1"/>
                </a:solidFill>
              </a:rPr>
              <a:t> skupiła się na rynku przemysłowym i sieciowym (FPGA do akceleracji, 5G, elektroniczne radary).</a:t>
            </a:r>
          </a:p>
          <a:p>
            <a:pPr algn="just"/>
            <a:r>
              <a:rPr lang="pl-PL" sz="1200" b="1" dirty="0">
                <a:solidFill>
                  <a:schemeClr val="bg1"/>
                </a:solidFill>
              </a:rPr>
              <a:t>	</a:t>
            </a:r>
          </a:p>
          <a:p>
            <a:pPr algn="just"/>
            <a:r>
              <a:rPr lang="pl-PL" sz="1200" b="1" i="1" dirty="0">
                <a:solidFill>
                  <a:schemeClr val="bg1"/>
                </a:solidFill>
              </a:rPr>
              <a:t>Intel	</a:t>
            </a:r>
            <a:r>
              <a:rPr lang="pl-PL" sz="1200" b="1" dirty="0">
                <a:solidFill>
                  <a:schemeClr val="bg1"/>
                </a:solidFill>
              </a:rPr>
              <a:t> 	</a:t>
            </a:r>
            <a:r>
              <a:rPr lang="pl-PL" sz="1200" dirty="0">
                <a:solidFill>
                  <a:schemeClr val="bg1"/>
                </a:solidFill>
              </a:rPr>
              <a:t>Nowy CEO Lip-</a:t>
            </a:r>
            <a:r>
              <a:rPr lang="pl-PL" sz="1200" dirty="0" err="1">
                <a:solidFill>
                  <a:schemeClr val="bg1"/>
                </a:solidFill>
              </a:rPr>
              <a:t>Bu</a:t>
            </a:r>
            <a:r>
              <a:rPr lang="pl-PL" sz="1200" dirty="0">
                <a:solidFill>
                  <a:schemeClr val="bg1"/>
                </a:solidFill>
              </a:rPr>
              <a:t> Tan stawia na utrzymanie dominacji x86 w erze AI. Podkreślił, że CPU mają kluczową rolę w AI. Intel obiecuje ostrożne zwiększanie podaży 18A i poprawę jakości wykonania, a CFO podkreśla, że „dynamika popytu pozostaje zdrowa, a przyspieszająca adopcja AI wzmacnia znaczenie architektury x86”. Intel stawia też na dywersyfikację – rozwija usługi produkcyjne (sprzedaż mocy fabryk innym firmom) i zwiększa portfel w obszarach pokrewnych (np. pamięci </a:t>
            </a:r>
            <a:r>
              <a:rPr lang="pl-PL" sz="1200" dirty="0" err="1">
                <a:solidFill>
                  <a:schemeClr val="bg1"/>
                </a:solidFill>
              </a:rPr>
              <a:t>Optane</a:t>
            </a:r>
            <a:r>
              <a:rPr lang="pl-PL" sz="1200" dirty="0">
                <a:solidFill>
                  <a:schemeClr val="bg1"/>
                </a:solidFill>
              </a:rPr>
              <a:t> czy sieci 5G).</a:t>
            </a:r>
          </a:p>
        </p:txBody>
      </p:sp>
      <p:pic>
        <p:nvPicPr>
          <p:cNvPr id="7" name="Graphic 6" descr="Monety">
            <a:extLst>
              <a:ext uri="{FF2B5EF4-FFF2-40B4-BE49-F238E27FC236}">
                <a16:creationId xmlns:a16="http://schemas.microsoft.com/office/drawing/2014/main" id="{8481BA99-66CF-9B94-0093-1D13D19EC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8757" y="1111641"/>
            <a:ext cx="4655348" cy="465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3972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43AA1-647B-8E6D-F8FD-A4E3FCB58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CC2B463-6BD5-411E-A3CA-67A9FE003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83E6F24-3E64-4893-9F13-7BEE01C84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9"/>
            <a:ext cx="7498616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73639B6-F0F0-6BC8-B920-8CC257E2C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11991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 err="1">
                <a:solidFill>
                  <a:srgbClr val="FFFFFF"/>
                </a:solidFill>
              </a:rPr>
              <a:t>Wyniki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finansowe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i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udziały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rynkowe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6" name="Graphic 5" descr="Upward trend">
            <a:extLst>
              <a:ext uri="{FF2B5EF4-FFF2-40B4-BE49-F238E27FC236}">
                <a16:creationId xmlns:a16="http://schemas.microsoft.com/office/drawing/2014/main" id="{35E22B0C-FE52-CA08-F547-E3EA95234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166" y="2217610"/>
            <a:ext cx="2716911" cy="2716911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0C8822D4-D49D-2C3E-F453-7173DBEBBC2F}"/>
              </a:ext>
            </a:extLst>
          </p:cNvPr>
          <p:cNvSpPr txBox="1"/>
          <p:nvPr/>
        </p:nvSpPr>
        <p:spPr>
          <a:xfrm>
            <a:off x="5594554" y="3114400"/>
            <a:ext cx="29693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dirty="0">
                <a:solidFill>
                  <a:schemeClr val="bg1"/>
                </a:solidFill>
              </a:rPr>
              <a:t>Przychody i zyski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dirty="0">
                <a:solidFill>
                  <a:schemeClr val="bg1"/>
                </a:solidFill>
              </a:rPr>
              <a:t>Udziały rynkowe CPU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pl-PL" dirty="0">
                <a:solidFill>
                  <a:schemeClr val="bg1"/>
                </a:solidFill>
              </a:rPr>
              <a:t>Inne segmenty</a:t>
            </a:r>
          </a:p>
        </p:txBody>
      </p: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182EE6E7-F3FB-D6E0-F719-E89554159F14}"/>
              </a:ext>
            </a:extLst>
          </p:cNvPr>
          <p:cNvCxnSpPr>
            <a:cxnSpLocks/>
          </p:cNvCxnSpPr>
          <p:nvPr/>
        </p:nvCxnSpPr>
        <p:spPr>
          <a:xfrm>
            <a:off x="5706985" y="2772696"/>
            <a:ext cx="46703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40352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883CB-DD0F-3AC1-6987-B40058595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25BEC83-6085-E223-9BC3-1540605C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1428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Przychody i zyski</a:t>
            </a:r>
          </a:p>
        </p:txBody>
      </p:sp>
      <p:pic>
        <p:nvPicPr>
          <p:cNvPr id="6" name="Graphic 5" descr="Pieniądze">
            <a:extLst>
              <a:ext uri="{FF2B5EF4-FFF2-40B4-BE49-F238E27FC236}">
                <a16:creationId xmlns:a16="http://schemas.microsoft.com/office/drawing/2014/main" id="{EE7C8E55-C566-8FD7-30F3-886DEB955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57" y="2790605"/>
            <a:ext cx="3602736" cy="3602736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DB6B9981-DDBE-DB5D-F77B-ACCB20975329}"/>
              </a:ext>
            </a:extLst>
          </p:cNvPr>
          <p:cNvSpPr txBox="1"/>
          <p:nvPr/>
        </p:nvSpPr>
        <p:spPr>
          <a:xfrm>
            <a:off x="5486400" y="1179871"/>
            <a:ext cx="62772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b="1" i="1" dirty="0">
                <a:latin typeface="Amasis MT Pro Light" panose="02040304050005020304" pitchFamily="18" charset="-18"/>
              </a:rPr>
              <a:t>AMD	</a:t>
            </a:r>
            <a:r>
              <a:rPr lang="pl-PL" dirty="0">
                <a:latin typeface="Amasis MT Pro Light" panose="02040304050005020304" pitchFamily="18" charset="-18"/>
              </a:rPr>
              <a:t> W 2025 roku AMD zanotowało rekordowe przychody 34,64 mld USD (wzrost o 34% r/r) oraz zysk netto 4,335 mld USD. To efekt zarówno silnych sprzedaży CPU, GPU jak i wydatków inwestycyjnych. W Q4’25 przychody sięgnęły 10,27 mld (wzrost 34% r/r).</a:t>
            </a: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  <a:p>
            <a:pPr algn="just"/>
            <a:r>
              <a:rPr lang="pl-PL" b="1" i="1" dirty="0">
                <a:latin typeface="Amasis MT Pro Light" panose="02040304050005020304" pitchFamily="18" charset="-18"/>
              </a:rPr>
              <a:t>Intel</a:t>
            </a:r>
            <a:r>
              <a:rPr lang="pl-PL" dirty="0">
                <a:latin typeface="Amasis MT Pro Light" panose="02040304050005020304" pitchFamily="18" charset="-18"/>
              </a:rPr>
              <a:t> 		W 2025 r. Intel uzyskał przychód 52,9 mld USD – praktycznie bez zmian wobec 2024 roku. Firma odnotowała niewielką stratę netto (ok. 0,3 mld USD GAAP) po dużej stracie związanej z odpisem wartości </a:t>
            </a:r>
            <a:r>
              <a:rPr lang="pl-PL" dirty="0" err="1">
                <a:latin typeface="Amasis MT Pro Light" panose="02040304050005020304" pitchFamily="18" charset="-18"/>
              </a:rPr>
              <a:t>Altery</a:t>
            </a:r>
            <a:r>
              <a:rPr lang="pl-PL" dirty="0">
                <a:latin typeface="Amasis MT Pro Light" panose="02040304050005020304" pitchFamily="18" charset="-18"/>
              </a:rPr>
              <a:t> w 2024. W Q4’25 przychód wyniósł 13,7 mld USD (spadek 4% r/r). Intel poprawił marżę i ograniczył koszty (wydatki R&amp;D/MG&amp;A zmalały o 14% r/r), co zmniejszyło stratę operacyjną.</a:t>
            </a: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73168326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6FCF33-75C6-ACC5-DE2B-B3685A1C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56981F2-287B-4FF9-ADF9-BA62CF2DB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5ACA0C5-DA13-EFD0-7B08-F2903F834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1428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chemeClr val="accent1"/>
                </a:solidFill>
              </a:rPr>
              <a:t>Udziały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r>
              <a:rPr lang="en-US" sz="3600" dirty="0" err="1">
                <a:solidFill>
                  <a:schemeClr val="accent1"/>
                </a:solidFill>
              </a:rPr>
              <a:t>rynkowe</a:t>
            </a:r>
            <a:r>
              <a:rPr lang="en-US" sz="3600" dirty="0">
                <a:solidFill>
                  <a:schemeClr val="accent1"/>
                </a:solidFill>
              </a:rPr>
              <a:t> </a:t>
            </a:r>
            <a:r>
              <a:rPr lang="en-US" sz="3600" dirty="0" err="1">
                <a:solidFill>
                  <a:schemeClr val="accent1"/>
                </a:solidFill>
              </a:rPr>
              <a:t>cpu</a:t>
            </a:r>
            <a:endParaRPr lang="en-US" sz="3600" dirty="0">
              <a:solidFill>
                <a:schemeClr val="accent1"/>
              </a:solidFill>
            </a:endParaRPr>
          </a:p>
        </p:txBody>
      </p:sp>
      <p:pic>
        <p:nvPicPr>
          <p:cNvPr id="6" name="Graphic 5" descr="Komputer">
            <a:extLst>
              <a:ext uri="{FF2B5EF4-FFF2-40B4-BE49-F238E27FC236}">
                <a16:creationId xmlns:a16="http://schemas.microsoft.com/office/drawing/2014/main" id="{28569E56-C2DA-1847-B820-1C708275B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457" y="2790605"/>
            <a:ext cx="3602736" cy="3602736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CFEE02A9-DB60-31A0-2F18-0F5D383C3B06}"/>
              </a:ext>
            </a:extLst>
          </p:cNvPr>
          <p:cNvSpPr txBox="1"/>
          <p:nvPr/>
        </p:nvSpPr>
        <p:spPr>
          <a:xfrm>
            <a:off x="4630993" y="2184481"/>
            <a:ext cx="726732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b="1" i="1" dirty="0">
                <a:latin typeface="Amasis MT Pro Light" panose="02040304050005020304" pitchFamily="18" charset="-18"/>
              </a:rPr>
              <a:t>PC (klienckie)</a:t>
            </a:r>
            <a:r>
              <a:rPr lang="pl-PL" b="1" dirty="0">
                <a:latin typeface="Amasis MT Pro Light" panose="02040304050005020304" pitchFamily="18" charset="-18"/>
              </a:rPr>
              <a:t>: </a:t>
            </a:r>
            <a:r>
              <a:rPr lang="pl-PL" dirty="0">
                <a:latin typeface="Amasis MT Pro Light" panose="02040304050005020304" pitchFamily="18" charset="-18"/>
              </a:rPr>
              <a:t>Według raportu </a:t>
            </a:r>
            <a:r>
              <a:rPr lang="pl-PL" dirty="0" err="1">
                <a:latin typeface="Amasis MT Pro Light" panose="02040304050005020304" pitchFamily="18" charset="-18"/>
              </a:rPr>
              <a:t>Mercury</a:t>
            </a:r>
            <a:r>
              <a:rPr lang="pl-PL" dirty="0">
                <a:latin typeface="Amasis MT Pro Light" panose="02040304050005020304" pitchFamily="18" charset="-18"/>
              </a:rPr>
              <a:t> </a:t>
            </a:r>
            <a:r>
              <a:rPr lang="pl-PL" dirty="0" err="1">
                <a:latin typeface="Amasis MT Pro Light" panose="02040304050005020304" pitchFamily="18" charset="-18"/>
              </a:rPr>
              <a:t>Research</a:t>
            </a:r>
            <a:r>
              <a:rPr lang="pl-PL" dirty="0">
                <a:latin typeface="Amasis MT Pro Light" panose="02040304050005020304" pitchFamily="18" charset="-18"/>
              </a:rPr>
              <a:t> w Q4’25 AMD osiągnęło rekordowy udział w sprzedaży procesorów x86 (29,2% wszystkich jednostek). W segmencie desktopowym udział AMD wzrósł do 36,4% (Intel spadł do 63,6%). W ujęciu wartościowym AMD osiągnęło 31,2% udziału przychodów (Intel 68,8%), co pokazuje, że AMD sprzedaje więcej droższych układów (więcej rdzeni, bardziej wydajne modele).</a:t>
            </a:r>
          </a:p>
          <a:p>
            <a:pPr algn="just"/>
            <a:r>
              <a:rPr lang="pl-PL" i="1" dirty="0">
                <a:latin typeface="Amasis MT Pro Light" panose="02040304050005020304" pitchFamily="18" charset="-18"/>
              </a:rPr>
              <a:t>Laptopy</a:t>
            </a:r>
            <a:r>
              <a:rPr lang="pl-PL" dirty="0">
                <a:latin typeface="Amasis MT Pro Light" panose="02040304050005020304" pitchFamily="18" charset="-18"/>
              </a:rPr>
              <a:t>: Udział AMD w laptopach wyniósł 25% (wzrost). Intel pozostaje liderem, ale traci część rynku na rzecz </a:t>
            </a:r>
            <a:r>
              <a:rPr lang="pl-PL" dirty="0" err="1">
                <a:latin typeface="Amasis MT Pro Light" panose="02040304050005020304" pitchFamily="18" charset="-18"/>
              </a:rPr>
              <a:t>Ryzenów</a:t>
            </a:r>
            <a:r>
              <a:rPr lang="pl-PL" dirty="0">
                <a:latin typeface="Amasis MT Pro Light" panose="02040304050005020304" pitchFamily="18" charset="-18"/>
              </a:rPr>
              <a:t> mobilnych i nowych </a:t>
            </a:r>
            <a:r>
              <a:rPr lang="pl-PL" dirty="0" err="1">
                <a:latin typeface="Amasis MT Pro Light" panose="02040304050005020304" pitchFamily="18" charset="-18"/>
              </a:rPr>
              <a:t>architektur</a:t>
            </a:r>
            <a:r>
              <a:rPr lang="pl-PL" dirty="0">
                <a:latin typeface="Amasis MT Pro Light" panose="02040304050005020304" pitchFamily="18" charset="-18"/>
              </a:rPr>
              <a:t>.</a:t>
            </a: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  <a:p>
            <a:pPr algn="just"/>
            <a:r>
              <a:rPr lang="pl-PL" b="1" i="1" dirty="0">
                <a:latin typeface="Amasis MT Pro Light" panose="02040304050005020304" pitchFamily="18" charset="-18"/>
              </a:rPr>
              <a:t>Serwery</a:t>
            </a:r>
            <a:r>
              <a:rPr lang="pl-PL" dirty="0">
                <a:latin typeface="Amasis MT Pro Light" panose="02040304050005020304" pitchFamily="18" charset="-18"/>
              </a:rPr>
              <a:t>: AMD odnotowało znaczny wzrost udziałów w serwerach. W Q4’25 miało 28,8% udziału jednostek serwerowych (wzrost 3,1 pkt proc. Q/Q) i aż 41,3% udziału przychodów (wzrost 4,9 pkt proc. Q/Q). To pierwszy raz, gdy AMD przekroczyło 40% rynku serwerowego pod względem przychodów. Intel mimo że jest liderem, traci fragment rynku na rzecz energooszczędnych i wysokordzeniowych CPU EPYC.</a:t>
            </a:r>
          </a:p>
          <a:p>
            <a:pPr algn="just"/>
            <a:endParaRPr lang="pl-PL" dirty="0">
              <a:latin typeface="Amasis MT Pro Light" panose="020403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40542708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A3908-2D5E-5540-2182-ACB96B8A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Użytkownik">
            <a:extLst>
              <a:ext uri="{FF2B5EF4-FFF2-40B4-BE49-F238E27FC236}">
                <a16:creationId xmlns:a16="http://schemas.microsoft.com/office/drawing/2014/main" id="{5CB252B7-45A1-CF97-A16F-90C69E310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031" y="1208531"/>
            <a:ext cx="4735069" cy="473506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582284B-1A0A-3C6F-24F6-3191AAEAB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131" y="1156559"/>
            <a:ext cx="3081576" cy="14108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</a:rPr>
              <a:t>Inne </a:t>
            </a:r>
            <a:r>
              <a:rPr lang="en-US" sz="3600" dirty="0" err="1">
                <a:solidFill>
                  <a:srgbClr val="FFFFFF"/>
                </a:solidFill>
              </a:rPr>
              <a:t>segmenty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F31DF4EA-06C4-8775-A8BA-22D3F835AD96}"/>
              </a:ext>
            </a:extLst>
          </p:cNvPr>
          <p:cNvSpPr txBox="1"/>
          <p:nvPr/>
        </p:nvSpPr>
        <p:spPr>
          <a:xfrm>
            <a:off x="8381131" y="2792361"/>
            <a:ext cx="30537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>
                <a:solidFill>
                  <a:schemeClr val="bg1"/>
                </a:solidFill>
                <a:latin typeface="Amasis MT Pro Light" panose="02040304050005020304" pitchFamily="18" charset="-18"/>
              </a:rPr>
              <a:t>Przewagę AMD widać też w konsolach, gdzie Intel w ogóle nie konkuruje – każdy PS5/Xbox od 2020 zawiera </a:t>
            </a:r>
            <a:r>
              <a:rPr lang="pl-PL" dirty="0" err="1">
                <a:solidFill>
                  <a:schemeClr val="bg1"/>
                </a:solidFill>
                <a:latin typeface="Amasis MT Pro Light" panose="02040304050005020304" pitchFamily="18" charset="-18"/>
              </a:rPr>
              <a:t>SoC</a:t>
            </a:r>
            <a:r>
              <a:rPr lang="pl-PL" dirty="0">
                <a:solidFill>
                  <a:schemeClr val="bg1"/>
                </a:solidFill>
                <a:latin typeface="Amasis MT Pro Light" panose="02040304050005020304" pitchFamily="18" charset="-18"/>
              </a:rPr>
              <a:t> AMD. Intel jednak ma silną pozycję w tradycyjnych PC i laptopach korporacyjnych, co stabilizuje jego sprzedaż.</a:t>
            </a:r>
          </a:p>
        </p:txBody>
      </p:sp>
    </p:spTree>
    <p:extLst>
      <p:ext uri="{BB962C8B-B14F-4D97-AF65-F5344CB8AC3E}">
        <p14:creationId xmlns:p14="http://schemas.microsoft.com/office/powerpoint/2010/main" val="353101173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012A4-AE97-0891-DC78-5F82574F9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15DB35-53D7-4EDC-A965-A4349296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Produkcja">
            <a:extLst>
              <a:ext uri="{FF2B5EF4-FFF2-40B4-BE49-F238E27FC236}">
                <a16:creationId xmlns:a16="http://schemas.microsoft.com/office/drawing/2014/main" id="{A5D6AC48-133A-55D4-E0F2-348F53E92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23031" y="1208531"/>
            <a:ext cx="4735069" cy="473506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610F9C-62FE-46FC-8607-C35030B63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FAB65D6-B49D-3C67-E10D-D320D5016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6275" y="1419225"/>
            <a:ext cx="3081576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Łancuch dostaw i produkcja</a:t>
            </a:r>
          </a:p>
        </p:txBody>
      </p:sp>
    </p:spTree>
    <p:extLst>
      <p:ext uri="{BB962C8B-B14F-4D97-AF65-F5344CB8AC3E}">
        <p14:creationId xmlns:p14="http://schemas.microsoft.com/office/powerpoint/2010/main" val="124119709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C8D12-1F45-6C5F-1729-78A72062A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590B8A1-BE1C-7D5C-4743-8F713CC1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610099"/>
            <a:ext cx="10993549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Model produkcji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6AE2FE-036E-44DB-8A9A-8E3261C9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Fabryka">
            <a:extLst>
              <a:ext uri="{FF2B5EF4-FFF2-40B4-BE49-F238E27FC236}">
                <a16:creationId xmlns:a16="http://schemas.microsoft.com/office/drawing/2014/main" id="{1272AE72-5E10-3F7D-F81C-250A3F2E1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83" y="723899"/>
            <a:ext cx="3566161" cy="3566161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FDFADE27-5E7A-8F9A-F91A-9A1476B779DC}"/>
              </a:ext>
            </a:extLst>
          </p:cNvPr>
          <p:cNvSpPr txBox="1"/>
          <p:nvPr/>
        </p:nvSpPr>
        <p:spPr>
          <a:xfrm>
            <a:off x="3923071" y="924232"/>
            <a:ext cx="76516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>
                <a:latin typeface="Amasis MT Pro Light" panose="02040304050005020304" pitchFamily="18" charset="-18"/>
              </a:rPr>
              <a:t>AMD</a:t>
            </a:r>
            <a:r>
              <a:rPr lang="pl-PL" sz="1600" dirty="0">
                <a:latin typeface="Amasis MT Pro Light" panose="02040304050005020304" pitchFamily="18" charset="-18"/>
              </a:rPr>
              <a:t> działa w modelu </a:t>
            </a:r>
            <a:r>
              <a:rPr lang="pl-PL" sz="1600" i="1" dirty="0" err="1">
                <a:latin typeface="Amasis MT Pro Light" panose="02040304050005020304" pitchFamily="18" charset="-18"/>
              </a:rPr>
              <a:t>fabless</a:t>
            </a:r>
            <a:r>
              <a:rPr lang="pl-PL" sz="1600" dirty="0">
                <a:latin typeface="Amasis MT Pro Light" panose="02040304050005020304" pitchFamily="18" charset="-18"/>
              </a:rPr>
              <a:t>: projektuje CPU/GPU, a produkcję zleca zewnętrznym fabrykom, głównie TSMC (Taiwan) i </a:t>
            </a:r>
            <a:r>
              <a:rPr lang="pl-PL" sz="1600" dirty="0" err="1">
                <a:latin typeface="Amasis MT Pro Light" panose="02040304050005020304" pitchFamily="18" charset="-18"/>
              </a:rPr>
              <a:t>GlobalFoundries</a:t>
            </a:r>
            <a:r>
              <a:rPr lang="pl-PL" sz="1600" dirty="0">
                <a:latin typeface="Amasis MT Pro Light" panose="02040304050005020304" pitchFamily="18" charset="-18"/>
              </a:rPr>
              <a:t>. Dzięki temu może korzystać z najnowocześniejszych procesów litograficznych (obecnie 5 </a:t>
            </a:r>
            <a:r>
              <a:rPr lang="pl-PL" sz="1600" dirty="0" err="1">
                <a:latin typeface="Amasis MT Pro Light" panose="02040304050005020304" pitchFamily="18" charset="-18"/>
              </a:rPr>
              <a:t>nm</a:t>
            </a:r>
            <a:r>
              <a:rPr lang="pl-PL" sz="1600" dirty="0">
                <a:latin typeface="Amasis MT Pro Light" panose="02040304050005020304" pitchFamily="18" charset="-18"/>
              </a:rPr>
              <a:t> TSMC dla Zen 4, niedługo 3 </a:t>
            </a:r>
            <a:r>
              <a:rPr lang="pl-PL" sz="1600" dirty="0" err="1">
                <a:latin typeface="Amasis MT Pro Light" panose="02040304050005020304" pitchFamily="18" charset="-18"/>
              </a:rPr>
              <a:t>nm</a:t>
            </a:r>
            <a:r>
              <a:rPr lang="pl-PL" sz="1600" dirty="0">
                <a:latin typeface="Amasis MT Pro Light" panose="02040304050005020304" pitchFamily="18" charset="-18"/>
              </a:rPr>
              <a:t>) bez konieczności inwestowania we własne linie produkcyjne. To przynosi korzyść skali i szybkości wprowadzania nowych węzłów technologicznych.</a:t>
            </a:r>
          </a:p>
          <a:p>
            <a:pPr algn="just"/>
            <a:endParaRPr lang="pl-PL" sz="1600" dirty="0">
              <a:latin typeface="Amasis MT Pro Light" panose="02040304050005020304" pitchFamily="18" charset="-18"/>
            </a:endParaRPr>
          </a:p>
          <a:p>
            <a:pPr algn="just"/>
            <a:r>
              <a:rPr lang="pl-PL" sz="1600" b="1" dirty="0">
                <a:latin typeface="Amasis MT Pro Light" panose="02040304050005020304" pitchFamily="18" charset="-18"/>
              </a:rPr>
              <a:t>Intel </a:t>
            </a:r>
            <a:r>
              <a:rPr lang="pl-PL" sz="1600" dirty="0">
                <a:latin typeface="Amasis MT Pro Light" panose="02040304050005020304" pitchFamily="18" charset="-18"/>
              </a:rPr>
              <a:t>pozostaje tradycyjnym producentem (IDM – </a:t>
            </a:r>
            <a:r>
              <a:rPr lang="pl-PL" sz="1600" dirty="0" err="1">
                <a:latin typeface="Amasis MT Pro Light" panose="02040304050005020304" pitchFamily="18" charset="-18"/>
              </a:rPr>
              <a:t>Integrated</a:t>
            </a:r>
            <a:r>
              <a:rPr lang="pl-PL" sz="1600" dirty="0">
                <a:latin typeface="Amasis MT Pro Light" panose="02040304050005020304" pitchFamily="18" charset="-18"/>
              </a:rPr>
              <a:t> Device </a:t>
            </a:r>
            <a:r>
              <a:rPr lang="pl-PL" sz="1600" dirty="0" err="1">
                <a:latin typeface="Amasis MT Pro Light" panose="02040304050005020304" pitchFamily="18" charset="-18"/>
              </a:rPr>
              <a:t>Manufacturer</a:t>
            </a:r>
            <a:r>
              <a:rPr lang="pl-PL" sz="1600" dirty="0">
                <a:latin typeface="Amasis MT Pro Light" panose="02040304050005020304" pitchFamily="18" charset="-18"/>
              </a:rPr>
              <a:t>). Posiada własne fabryki (m.in. w USA, Irlandii, Izraelu) i samodzielnie rozwija procesy. Po problemach z wprowadzeniem 10 </a:t>
            </a:r>
            <a:r>
              <a:rPr lang="pl-PL" sz="1600" dirty="0" err="1">
                <a:latin typeface="Amasis MT Pro Light" panose="02040304050005020304" pitchFamily="18" charset="-18"/>
              </a:rPr>
              <a:t>nm</a:t>
            </a:r>
            <a:r>
              <a:rPr lang="pl-PL" sz="1600" dirty="0">
                <a:latin typeface="Amasis MT Pro Light" panose="02040304050005020304" pitchFamily="18" charset="-18"/>
              </a:rPr>
              <a:t>/7 </a:t>
            </a:r>
            <a:r>
              <a:rPr lang="pl-PL" sz="1600" dirty="0" err="1">
                <a:latin typeface="Amasis MT Pro Light" panose="02040304050005020304" pitchFamily="18" charset="-18"/>
              </a:rPr>
              <a:t>nm</a:t>
            </a:r>
            <a:r>
              <a:rPr lang="pl-PL" sz="1600" dirty="0">
                <a:latin typeface="Amasis MT Pro Light" panose="02040304050005020304" pitchFamily="18" charset="-18"/>
              </a:rPr>
              <a:t>, Intel zaprezentował </a:t>
            </a:r>
            <a:r>
              <a:rPr lang="pl-PL" sz="1600" dirty="0" err="1">
                <a:latin typeface="Amasis MT Pro Light" panose="02040304050005020304" pitchFamily="18" charset="-18"/>
              </a:rPr>
              <a:t>roadmapę</a:t>
            </a:r>
            <a:r>
              <a:rPr lang="pl-PL" sz="1600" dirty="0">
                <a:latin typeface="Amasis MT Pro Light" panose="02040304050005020304" pitchFamily="18" charset="-18"/>
              </a:rPr>
              <a:t> od 18A wzwyż. Pod hasłem Intel </a:t>
            </a:r>
            <a:r>
              <a:rPr lang="pl-PL" sz="1600" dirty="0" err="1">
                <a:latin typeface="Amasis MT Pro Light" panose="02040304050005020304" pitchFamily="18" charset="-18"/>
              </a:rPr>
              <a:t>Foundry</a:t>
            </a:r>
            <a:r>
              <a:rPr lang="pl-PL" sz="1600" dirty="0">
                <a:latin typeface="Amasis MT Pro Light" panose="02040304050005020304" pitchFamily="18" charset="-18"/>
              </a:rPr>
              <a:t> Service (IFS) otwiera też swoje linie zewnętrznym klientom (np. Apple, </a:t>
            </a:r>
            <a:r>
              <a:rPr lang="pl-PL" sz="1600" dirty="0" err="1">
                <a:latin typeface="Amasis MT Pro Light" panose="02040304050005020304" pitchFamily="18" charset="-18"/>
              </a:rPr>
              <a:t>Broadcom</a:t>
            </a:r>
            <a:r>
              <a:rPr lang="pl-PL" sz="1600" dirty="0">
                <a:latin typeface="Amasis MT Pro Light" panose="02040304050005020304" pitchFamily="18" charset="-18"/>
              </a:rPr>
              <a:t>, Google – według doniesień branżowych). Oprócz tego Intel rozwija zaawansowane pakiety </a:t>
            </a:r>
            <a:r>
              <a:rPr lang="pl-PL" sz="1600" dirty="0" err="1">
                <a:latin typeface="Amasis MT Pro Light" panose="02040304050005020304" pitchFamily="18" charset="-18"/>
              </a:rPr>
              <a:t>wielochipowe</a:t>
            </a:r>
            <a:r>
              <a:rPr lang="pl-PL" sz="1600" dirty="0">
                <a:latin typeface="Amasis MT Pro Light" panose="02040304050005020304" pitchFamily="18" charset="-18"/>
              </a:rPr>
              <a:t> (</a:t>
            </a:r>
            <a:r>
              <a:rPr lang="pl-PL" sz="1600" dirty="0" err="1">
                <a:latin typeface="Amasis MT Pro Light" panose="02040304050005020304" pitchFamily="18" charset="-18"/>
              </a:rPr>
              <a:t>Foveros</a:t>
            </a:r>
            <a:r>
              <a:rPr lang="pl-PL" sz="1600" dirty="0">
                <a:latin typeface="Amasis MT Pro Light" panose="02040304050005020304" pitchFamily="18" charset="-18"/>
              </a:rPr>
              <a:t>, EMIB). Intel współpracuje z producentami narzędzi (</a:t>
            </a:r>
            <a:r>
              <a:rPr lang="pl-PL" sz="1600" dirty="0" err="1">
                <a:latin typeface="Amasis MT Pro Light" panose="02040304050005020304" pitchFamily="18" charset="-18"/>
              </a:rPr>
              <a:t>Synopsys</a:t>
            </a:r>
            <a:r>
              <a:rPr lang="pl-PL" sz="1600" dirty="0">
                <a:latin typeface="Amasis MT Pro Light" panose="02040304050005020304" pitchFamily="18" charset="-18"/>
              </a:rPr>
              <a:t>, </a:t>
            </a:r>
            <a:r>
              <a:rPr lang="pl-PL" sz="1600" dirty="0" err="1">
                <a:latin typeface="Amasis MT Pro Light" panose="02040304050005020304" pitchFamily="18" charset="-18"/>
              </a:rPr>
              <a:t>Cadence</a:t>
            </a:r>
            <a:r>
              <a:rPr lang="pl-PL" sz="1600" dirty="0">
                <a:latin typeface="Amasis MT Pro Light" panose="02040304050005020304" pitchFamily="18" charset="-18"/>
              </a:rPr>
              <a:t>, Siemens) przy adaptacji nowych procesów.</a:t>
            </a:r>
          </a:p>
          <a:p>
            <a:pPr algn="just"/>
            <a:endParaRPr lang="pl-PL" sz="1600" dirty="0">
              <a:latin typeface="Amasis MT Pro Light" panose="02040304050005020304" pitchFamily="18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80711959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E67C0-66FB-9AA6-B1EE-B1815D8F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31ADEBF-0541-2545-161C-232DF576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4610099"/>
            <a:ext cx="10993549" cy="106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Wpływ globalny</a:t>
            </a: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6AE2FE-036E-44DB-8A9A-8E3261C9F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Earth Globe Americas">
            <a:extLst>
              <a:ext uri="{FF2B5EF4-FFF2-40B4-BE49-F238E27FC236}">
                <a16:creationId xmlns:a16="http://schemas.microsoft.com/office/drawing/2014/main" id="{500B30AD-A38C-55E9-1176-A8869BF52D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83" y="723899"/>
            <a:ext cx="3566161" cy="3566161"/>
          </a:xfrm>
          <a:prstGeom prst="rect">
            <a:avLst/>
          </a:prstGeom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290EE8A1-FB11-4C75-307B-17D3B61936B9}"/>
              </a:ext>
            </a:extLst>
          </p:cNvPr>
          <p:cNvSpPr txBox="1"/>
          <p:nvPr/>
        </p:nvSpPr>
        <p:spPr>
          <a:xfrm>
            <a:off x="4149854" y="924232"/>
            <a:ext cx="74248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2000" dirty="0">
                <a:latin typeface="Amasis MT Pro Light" panose="02040304050005020304" pitchFamily="18" charset="-18"/>
              </a:rPr>
              <a:t>Zarówno AMD, jak i Intel cierpiały na globalne zakłócenia (np. niedobór krzemowych </a:t>
            </a:r>
            <a:r>
              <a:rPr lang="pl-PL" sz="2000" dirty="0" err="1">
                <a:latin typeface="Amasis MT Pro Light" panose="02040304050005020304" pitchFamily="18" charset="-18"/>
              </a:rPr>
              <a:t>waferów</a:t>
            </a:r>
            <a:r>
              <a:rPr lang="pl-PL" sz="2000" dirty="0">
                <a:latin typeface="Amasis MT Pro Light" panose="02040304050005020304" pitchFamily="18" charset="-18"/>
              </a:rPr>
              <a:t>, pandemia). AMD musi zdobywać moce w TSMC, które są atrakcyjne także dla </a:t>
            </a:r>
            <a:r>
              <a:rPr lang="pl-PL" sz="2000" dirty="0" err="1">
                <a:latin typeface="Amasis MT Pro Light" panose="02040304050005020304" pitchFamily="18" charset="-18"/>
              </a:rPr>
              <a:t>Nvidii</a:t>
            </a:r>
            <a:r>
              <a:rPr lang="pl-PL" sz="2000" dirty="0">
                <a:latin typeface="Amasis MT Pro Light" panose="02040304050005020304" pitchFamily="18" charset="-18"/>
              </a:rPr>
              <a:t> i Apple. Intel korzysta z własnych priorytetów i wsparcia (w USA powstają nowe fabryki przy współudziale państwa). Obie firmy także starają się uniezależnić od pojedynczych źródeł (AMD uruchomiło współpracę z Samsungiem dla GPU, Intel kupuje krzem od TSMC i Samsunga w projektach fabrycznych).</a:t>
            </a:r>
          </a:p>
        </p:txBody>
      </p:sp>
    </p:spTree>
    <p:extLst>
      <p:ext uri="{BB962C8B-B14F-4D97-AF65-F5344CB8AC3E}">
        <p14:creationId xmlns:p14="http://schemas.microsoft.com/office/powerpoint/2010/main" val="13444533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D6A5A-9806-9094-3144-5FF2A6DA8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8">
            <a:extLst>
              <a:ext uri="{FF2B5EF4-FFF2-40B4-BE49-F238E27FC236}">
                <a16:creationId xmlns:a16="http://schemas.microsoft.com/office/drawing/2014/main" id="{C249177F-A06A-45FB-B00F-00720EA19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8" name="Rectangle 10">
            <a:extLst>
              <a:ext uri="{FF2B5EF4-FFF2-40B4-BE49-F238E27FC236}">
                <a16:creationId xmlns:a16="http://schemas.microsoft.com/office/drawing/2014/main" id="{2E776F1A-996E-49D1-B112-57A6E7164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9" name="Rectangle 12">
            <a:extLst>
              <a:ext uri="{FF2B5EF4-FFF2-40B4-BE49-F238E27FC236}">
                <a16:creationId xmlns:a16="http://schemas.microsoft.com/office/drawing/2014/main" id="{4C4C3B4B-612F-41A6-81E2-EF54C8107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02D3A97A-037A-4CD4-96C9-9571CA29B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72FD9F9-5D9A-1D83-03F0-0481C339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359" y="752729"/>
            <a:ext cx="11029616" cy="7174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PARTNERSTWA STRATEGICZNE I EKOSYSTEM</a:t>
            </a:r>
          </a:p>
        </p:txBody>
      </p:sp>
      <p:graphicFrame>
        <p:nvGraphicFramePr>
          <p:cNvPr id="31" name="pole tekstowe 2">
            <a:extLst>
              <a:ext uri="{FF2B5EF4-FFF2-40B4-BE49-F238E27FC236}">
                <a16:creationId xmlns:a16="http://schemas.microsoft.com/office/drawing/2014/main" id="{8BF7B82B-6DF0-7612-AAFC-9874ECECEB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729546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2346869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9B29A-7CF5-8F59-E465-54C957124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EB7086-616E-4D44-94BE-D0F7635617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CC2B463-6BD5-411E-A3CA-67A9FE003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3E6F24-3E64-4893-9F13-7BEE01C841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6851" y="723899"/>
            <a:ext cx="7498616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FECC43B-A847-FFE2-D23C-55D7221C3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085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 err="1">
                <a:solidFill>
                  <a:srgbClr val="FFFFFF"/>
                </a:solidFill>
              </a:rPr>
              <a:t>Przewagi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konkurencyjne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i</a:t>
            </a:r>
            <a:r>
              <a:rPr lang="en-US" sz="3600" dirty="0">
                <a:solidFill>
                  <a:srgbClr val="FFFFFF"/>
                </a:solidFill>
              </a:rPr>
              <a:t> </a:t>
            </a:r>
            <a:r>
              <a:rPr lang="en-US" sz="3600" dirty="0" err="1">
                <a:solidFill>
                  <a:srgbClr val="FFFFFF"/>
                </a:solidFill>
              </a:rPr>
              <a:t>wyzwania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645DC7D-4068-3065-D5C6-B3882CF2D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66" y="2217610"/>
            <a:ext cx="2716911" cy="271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01638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963EF-6CA3-6BB6-F819-B8D28835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660A3D-94D7-4E5D-AE77-F2DEE49DF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4EB985-DC5C-4DAC-9D62-8DC7D0F25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B64ED-B050-4F57-8188-F2332600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5E99FA-492C-4C5E-9893-0F326B1B6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59258C-AAC2-41CD-973C-7439B122A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516B72-0116-42B2-82A2-B11218A36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11319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ytuł 4">
            <a:extLst>
              <a:ext uri="{FF2B5EF4-FFF2-40B4-BE49-F238E27FC236}">
                <a16:creationId xmlns:a16="http://schemas.microsoft.com/office/drawing/2014/main" id="{62BDDCF4-EACF-5D1F-0A22-F7EB9079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328" y="1044225"/>
            <a:ext cx="5452532" cy="48254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pl-PL" sz="4800" dirty="0">
                <a:solidFill>
                  <a:srgbClr val="FFFFFF"/>
                </a:solidFill>
              </a:rPr>
              <a:t>Przewaga</a:t>
            </a:r>
            <a:br>
              <a:rPr lang="pl-PL" sz="4800" dirty="0">
                <a:solidFill>
                  <a:srgbClr val="FFFFFF"/>
                </a:solidFill>
              </a:rPr>
            </a:br>
            <a:r>
              <a:rPr lang="pl-PL" sz="4800" dirty="0">
                <a:solidFill>
                  <a:srgbClr val="FFFFFF"/>
                </a:solidFill>
              </a:rPr>
              <a:t>konkurencyjna</a:t>
            </a:r>
            <a:br>
              <a:rPr lang="pl-PL" sz="4800" dirty="0">
                <a:solidFill>
                  <a:srgbClr val="FFFFFF"/>
                </a:solidFill>
              </a:rPr>
            </a:br>
            <a:r>
              <a:rPr lang="pl-PL" sz="4800" dirty="0">
                <a:solidFill>
                  <a:srgbClr val="FFFFFF"/>
                </a:solidFill>
              </a:rPr>
              <a:t>i</a:t>
            </a:r>
            <a:br>
              <a:rPr lang="pl-PL" sz="4800" dirty="0">
                <a:solidFill>
                  <a:srgbClr val="FFFFFF"/>
                </a:solidFill>
              </a:rPr>
            </a:br>
            <a:r>
              <a:rPr lang="pl-PL" sz="4800" dirty="0">
                <a:solidFill>
                  <a:srgbClr val="FFFFFF"/>
                </a:solidFill>
              </a:rPr>
              <a:t>wyzwania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DB507F-21B7-4C27-B0FC-D9C465C6D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579" y="460868"/>
            <a:ext cx="4828032" cy="1116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B1AE17-B7A3-4363-95CD-25441E2FF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2774" y="460868"/>
            <a:ext cx="4828032" cy="111654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998673F-44EE-7353-94C7-C86E1FF2CE0D}"/>
              </a:ext>
            </a:extLst>
          </p:cNvPr>
          <p:cNvSpPr txBox="1"/>
          <p:nvPr/>
        </p:nvSpPr>
        <p:spPr>
          <a:xfrm>
            <a:off x="6755769" y="1033390"/>
            <a:ext cx="4855037" cy="5210203"/>
          </a:xfrm>
          <a:prstGeom prst="rect">
            <a:avLst/>
          </a:prstGeom>
          <a:ln w="57150"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AMD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: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Mocne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strony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: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nowoczesna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architektura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CPU (Zen)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GPU (RDNA),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wyższe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liczby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rdzeni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lepszy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stosunek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wydajność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/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moc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wielu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segmentach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Szybka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adaptacja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nowych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procesów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litograficznych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dzięki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partnerstwu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z TSMC.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Stabilne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partnerstwa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chmury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,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konsole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dają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stały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popyt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Połączenie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z Xilinx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zwiększa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kompetencje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FPGA/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akceleratorach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AI.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Przychody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zyski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rosną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dzięki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konkurencyjnym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produktom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Wyzwania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: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brak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własnych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fabryk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oznacza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zależność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od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zewnętrznych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łańcuchów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dostaw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Mniejszy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budżet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R&amp;D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niż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Intel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niższa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skala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Historycznie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brak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obecności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segmencie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mobilnym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(Intel/Qualcomm do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niedawna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dominowały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smartfony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Konieczność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ciągłego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udowadniania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wartości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nowo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zdobytych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obszarach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sieć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,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samochody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Intel: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Mocne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strony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: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ogromna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skala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operacji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kapitału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,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zintegrowane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łańcuchy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dostaw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własne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fabryki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),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mocna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marka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relacje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z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tradycyjnymi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klientami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PC.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Wysoki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priorytet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centrach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danych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korporacji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duże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zamówienia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serwery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). Nowe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procesy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technologiczne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(18A)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mogą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przywrócić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przewagę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litograficzną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 Intel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inwestuje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także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rozwój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własnej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produkcji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półprzewodników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zwiększa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bezpieczeństwo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dostaw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(program CHIPS Act).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Wyzwania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: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utracone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udziały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rynkowe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presja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cenowa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ze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strony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AMD.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Problemy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z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wprowadzaniem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kolejnych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nodów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opóźnienia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10/7 nm w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przeszłości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).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Wyższe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koszty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operacyjne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restrukturyzacje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wpływają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na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marże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Konieczność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dywersyfikacji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(AI,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pamięci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, foundry)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potrafi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rozpraszać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zasoby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. Intel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musi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również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nadrobić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zaległości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w GPU (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młody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Arc vs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ugruntowane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 </a:t>
            </a:r>
            <a:r>
              <a:rPr lang="en-US" sz="1200" dirty="0" err="1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Radeony</a:t>
            </a:r>
            <a:r>
              <a:rPr lang="en-US" sz="1200" dirty="0">
                <a:solidFill>
                  <a:schemeClr val="accent2">
                    <a:lumMod val="50000"/>
                  </a:schemeClr>
                </a:solidFill>
                <a:latin typeface="Amasis MT Pro Light" panose="02040304050005020304" pitchFamily="18" charset="-18"/>
              </a:rPr>
              <a:t>/Nvidia).</a:t>
            </a:r>
          </a:p>
        </p:txBody>
      </p:sp>
    </p:spTree>
    <p:extLst>
      <p:ext uri="{BB962C8B-B14F-4D97-AF65-F5344CB8AC3E}">
        <p14:creationId xmlns:p14="http://schemas.microsoft.com/office/powerpoint/2010/main" val="201425654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06ADB-54CF-6D02-4852-543AF45F7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E96387-12F1-45E4-9322-ABBF2EE04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421DD-DE4E-4547-A904-3F80E25E3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85DEC-1215-4209-9708-B45CC977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6A64B-3BCB-44CC-892E-C791C324B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B0653AC-76EC-C725-5837-5C7C98F9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Podsumowanie i wnioski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E9758B-E361-4084-8D9F-729FA6C4A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Znacznik wyboru">
            <a:extLst>
              <a:ext uri="{FF2B5EF4-FFF2-40B4-BE49-F238E27FC236}">
                <a16:creationId xmlns:a16="http://schemas.microsoft.com/office/drawing/2014/main" id="{8FE824C2-564B-60A5-27BD-83DA52C55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3878" y="2361056"/>
            <a:ext cx="3649219" cy="3649219"/>
          </a:xfrm>
          <a:prstGeom prst="rect">
            <a:avLst/>
          </a:prstGeom>
        </p:spPr>
      </p:pic>
      <p:sp>
        <p:nvSpPr>
          <p:cNvPr id="3" name="pole tekstowe 2">
            <a:extLst>
              <a:ext uri="{FF2B5EF4-FFF2-40B4-BE49-F238E27FC236}">
                <a16:creationId xmlns:a16="http://schemas.microsoft.com/office/drawing/2014/main" id="{143CBD61-AA25-5AC7-6DD6-488AA7FC000A}"/>
              </a:ext>
            </a:extLst>
          </p:cNvPr>
          <p:cNvSpPr txBox="1"/>
          <p:nvPr/>
        </p:nvSpPr>
        <p:spPr>
          <a:xfrm>
            <a:off x="6335805" y="2180497"/>
            <a:ext cx="5275001" cy="39753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just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1500" dirty="0">
                <a:solidFill>
                  <a:schemeClr val="tx2"/>
                </a:solidFill>
              </a:rPr>
              <a:t>AMD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Intel </a:t>
            </a:r>
            <a:r>
              <a:rPr lang="en-US" sz="1500" dirty="0" err="1">
                <a:solidFill>
                  <a:schemeClr val="tx2"/>
                </a:solidFill>
              </a:rPr>
              <a:t>prowadzą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zaciekłą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rywalizację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na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globalnym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rynku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półprzewodników</a:t>
            </a:r>
            <a:r>
              <a:rPr lang="en-US" sz="1500" dirty="0">
                <a:solidFill>
                  <a:schemeClr val="tx2"/>
                </a:solidFill>
              </a:rPr>
              <a:t>. AMD </a:t>
            </a:r>
            <a:r>
              <a:rPr lang="en-US" sz="1500" dirty="0" err="1">
                <a:solidFill>
                  <a:schemeClr val="tx2"/>
                </a:solidFill>
              </a:rPr>
              <a:t>odnotowuje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szybki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wzrost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przychodów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udziałów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rynkowych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dzięki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innowacjom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architektur</a:t>
            </a:r>
            <a:r>
              <a:rPr lang="en-US" sz="1500" dirty="0">
                <a:solidFill>
                  <a:schemeClr val="tx2"/>
                </a:solidFill>
              </a:rPr>
              <a:t> (Zen, EPYC) </a:t>
            </a:r>
            <a:r>
              <a:rPr lang="en-US" sz="1500" dirty="0" err="1">
                <a:solidFill>
                  <a:schemeClr val="tx2"/>
                </a:solidFill>
              </a:rPr>
              <a:t>oraz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skutecznej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strategii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partnerskiej</a:t>
            </a:r>
            <a:r>
              <a:rPr lang="en-US" sz="1500" dirty="0">
                <a:solidFill>
                  <a:schemeClr val="tx2"/>
                </a:solidFill>
              </a:rPr>
              <a:t> (</a:t>
            </a:r>
            <a:r>
              <a:rPr lang="en-US" sz="1500" dirty="0" err="1">
                <a:solidFill>
                  <a:schemeClr val="tx2"/>
                </a:solidFill>
              </a:rPr>
              <a:t>chmury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 err="1">
                <a:solidFill>
                  <a:schemeClr val="tx2"/>
                </a:solidFill>
              </a:rPr>
              <a:t>konsole</a:t>
            </a:r>
            <a:r>
              <a:rPr lang="en-US" sz="1500" dirty="0">
                <a:solidFill>
                  <a:schemeClr val="tx2"/>
                </a:solidFill>
              </a:rPr>
              <a:t>). Intel </a:t>
            </a:r>
            <a:r>
              <a:rPr lang="en-US" sz="1500" dirty="0" err="1">
                <a:solidFill>
                  <a:schemeClr val="tx2"/>
                </a:solidFill>
              </a:rPr>
              <a:t>nadal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utrzymuje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przodownictwo</a:t>
            </a:r>
            <a:r>
              <a:rPr lang="en-US" sz="1500" dirty="0">
                <a:solidFill>
                  <a:schemeClr val="tx2"/>
                </a:solidFill>
              </a:rPr>
              <a:t> w </a:t>
            </a:r>
            <a:r>
              <a:rPr lang="en-US" sz="1500" dirty="0" err="1">
                <a:solidFill>
                  <a:schemeClr val="tx2"/>
                </a:solidFill>
              </a:rPr>
              <a:t>wielu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segmentach</a:t>
            </a:r>
            <a:r>
              <a:rPr lang="en-US" sz="1500" dirty="0">
                <a:solidFill>
                  <a:schemeClr val="tx2"/>
                </a:solidFill>
              </a:rPr>
              <a:t> PC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serwerów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dzięki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rozmiarom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historii</a:t>
            </a:r>
            <a:r>
              <a:rPr lang="en-US" sz="1500" dirty="0">
                <a:solidFill>
                  <a:schemeClr val="tx2"/>
                </a:solidFill>
              </a:rPr>
              <a:t>, ale </a:t>
            </a:r>
            <a:r>
              <a:rPr lang="en-US" sz="1500" dirty="0" err="1">
                <a:solidFill>
                  <a:schemeClr val="tx2"/>
                </a:solidFill>
              </a:rPr>
              <a:t>stoi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przed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wyzwaniami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technologicznymi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finansowymi</a:t>
            </a:r>
            <a:r>
              <a:rPr lang="en-US" sz="1500" dirty="0">
                <a:solidFill>
                  <a:schemeClr val="tx2"/>
                </a:solidFill>
              </a:rPr>
              <a:t>. Obie </a:t>
            </a:r>
            <a:r>
              <a:rPr lang="en-US" sz="1500" dirty="0" err="1">
                <a:solidFill>
                  <a:schemeClr val="tx2"/>
                </a:solidFill>
              </a:rPr>
              <a:t>firmy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starają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się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wykorzystać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nadchodzącą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falę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obliczeń</a:t>
            </a:r>
            <a:r>
              <a:rPr lang="en-US" sz="1500" dirty="0">
                <a:solidFill>
                  <a:schemeClr val="tx2"/>
                </a:solidFill>
              </a:rPr>
              <a:t> AI. </a:t>
            </a:r>
            <a:r>
              <a:rPr lang="pl-PL" sz="1500" dirty="0">
                <a:solidFill>
                  <a:schemeClr val="tx2"/>
                </a:solidFill>
              </a:rPr>
              <a:t> </a:t>
            </a:r>
            <a:r>
              <a:rPr lang="en-US" sz="1500" dirty="0">
                <a:solidFill>
                  <a:schemeClr val="tx2"/>
                </a:solidFill>
              </a:rPr>
              <a:t>AMD </a:t>
            </a:r>
            <a:r>
              <a:rPr lang="en-US" sz="1500" dirty="0" err="1">
                <a:solidFill>
                  <a:schemeClr val="tx2"/>
                </a:solidFill>
              </a:rPr>
              <a:t>przez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poprawę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wielordzeniowej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wydajności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swoich</a:t>
            </a:r>
            <a:r>
              <a:rPr lang="en-US" sz="1500" dirty="0">
                <a:solidFill>
                  <a:schemeClr val="tx2"/>
                </a:solidFill>
              </a:rPr>
              <a:t> CPU/GPU, Intel </a:t>
            </a:r>
            <a:r>
              <a:rPr lang="en-US" sz="1500" dirty="0" err="1">
                <a:solidFill>
                  <a:schemeClr val="tx2"/>
                </a:solidFill>
              </a:rPr>
              <a:t>przez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integrację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nowych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procesów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rozwój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własnego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biznesu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produkcyjnego</a:t>
            </a:r>
            <a:r>
              <a:rPr lang="en-US" sz="1500" dirty="0">
                <a:solidFill>
                  <a:schemeClr val="tx2"/>
                </a:solidFill>
              </a:rPr>
              <a:t>. AMD </a:t>
            </a:r>
            <a:r>
              <a:rPr lang="en-US" sz="1500" dirty="0" err="1">
                <a:solidFill>
                  <a:schemeClr val="tx2"/>
                </a:solidFill>
              </a:rPr>
              <a:t>coraz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odważniej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odbiera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Intelowi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część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rynku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 err="1">
                <a:solidFill>
                  <a:schemeClr val="tx2"/>
                </a:solidFill>
              </a:rPr>
              <a:t>zwłaszcza</a:t>
            </a:r>
            <a:r>
              <a:rPr lang="en-US" sz="1500" dirty="0">
                <a:solidFill>
                  <a:schemeClr val="tx2"/>
                </a:solidFill>
              </a:rPr>
              <a:t> w </a:t>
            </a:r>
            <a:r>
              <a:rPr lang="en-US" sz="1500" dirty="0" err="1">
                <a:solidFill>
                  <a:schemeClr val="tx2"/>
                </a:solidFill>
              </a:rPr>
              <a:t>segmencie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wydajnych</a:t>
            </a:r>
            <a:r>
              <a:rPr lang="en-US" sz="1500" dirty="0">
                <a:solidFill>
                  <a:schemeClr val="tx2"/>
                </a:solidFill>
              </a:rPr>
              <a:t> CPU. Intel </a:t>
            </a:r>
            <a:r>
              <a:rPr lang="en-US" sz="1500" dirty="0" err="1">
                <a:solidFill>
                  <a:schemeClr val="tx2"/>
                </a:solidFill>
              </a:rPr>
              <a:t>odpowiada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inwestycjami</a:t>
            </a:r>
            <a:r>
              <a:rPr lang="en-US" sz="1500" dirty="0">
                <a:solidFill>
                  <a:schemeClr val="tx2"/>
                </a:solidFill>
              </a:rPr>
              <a:t> w </a:t>
            </a:r>
            <a:r>
              <a:rPr lang="en-US" sz="1500" dirty="0" err="1">
                <a:solidFill>
                  <a:schemeClr val="tx2"/>
                </a:solidFill>
              </a:rPr>
              <a:t>technologię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zmianami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organizacyjnymi</a:t>
            </a:r>
            <a:r>
              <a:rPr lang="en-US" sz="1500" dirty="0">
                <a:solidFill>
                  <a:schemeClr val="tx2"/>
                </a:solidFill>
              </a:rPr>
              <a:t>. </a:t>
            </a:r>
            <a:r>
              <a:rPr lang="en-US" sz="1500" dirty="0" err="1">
                <a:solidFill>
                  <a:schemeClr val="tx2"/>
                </a:solidFill>
              </a:rPr>
              <a:t>Przewagę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będzie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mieć</a:t>
            </a:r>
            <a:r>
              <a:rPr lang="en-US" sz="1500" dirty="0">
                <a:solidFill>
                  <a:schemeClr val="tx2"/>
                </a:solidFill>
              </a:rPr>
              <a:t> ta </a:t>
            </a:r>
            <a:r>
              <a:rPr lang="en-US" sz="1500" dirty="0" err="1">
                <a:solidFill>
                  <a:schemeClr val="tx2"/>
                </a:solidFill>
              </a:rPr>
              <a:t>firma</a:t>
            </a:r>
            <a:r>
              <a:rPr lang="en-US" sz="1500" dirty="0">
                <a:solidFill>
                  <a:schemeClr val="tx2"/>
                </a:solidFill>
              </a:rPr>
              <a:t>, </a:t>
            </a:r>
            <a:r>
              <a:rPr lang="en-US" sz="1500" dirty="0" err="1">
                <a:solidFill>
                  <a:schemeClr val="tx2"/>
                </a:solidFill>
              </a:rPr>
              <a:t>która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efektywniej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wdroży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nowe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litografie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zaspokoi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rosnące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potrzeby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centrów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danych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i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rynków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500" dirty="0" err="1">
                <a:solidFill>
                  <a:schemeClr val="tx2"/>
                </a:solidFill>
              </a:rPr>
              <a:t>wschodzących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pl-PL" sz="1500" dirty="0">
                <a:solidFill>
                  <a:schemeClr val="tx2"/>
                </a:solidFill>
              </a:rPr>
              <a:t>takich jak AI.</a:t>
            </a:r>
            <a:endParaRPr lang="en-US" sz="15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sz="15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76279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Prostokąt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/>
          </a:p>
        </p:txBody>
      </p:sp>
      <p:pic>
        <p:nvPicPr>
          <p:cNvPr id="5" name="Obraz 4" descr="Liczby cyfrowe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12" name="Prostokąt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pl-PL" dirty="0">
                <a:solidFill>
                  <a:srgbClr val="FFFFFF"/>
                </a:solidFill>
              </a:rPr>
              <a:t>Dziękujemy!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7449" y="4558379"/>
            <a:ext cx="3081576" cy="356220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pl-PL" dirty="0">
                <a:solidFill>
                  <a:schemeClr val="bg2"/>
                </a:solidFill>
              </a:rPr>
              <a:t>Opracowanie</a:t>
            </a:r>
          </a:p>
          <a:p>
            <a:pPr rtl="0"/>
            <a:endParaRPr lang="pl-PL" dirty="0">
              <a:solidFill>
                <a:schemeClr val="bg2"/>
              </a:solidFill>
            </a:endParaRPr>
          </a:p>
          <a:p>
            <a:pPr rtl="0"/>
            <a:endParaRPr lang="pl-PL" dirty="0">
              <a:solidFill>
                <a:schemeClr val="bg2"/>
              </a:solidFill>
            </a:endParaRPr>
          </a:p>
          <a:p>
            <a:pPr rtl="0"/>
            <a:endParaRPr lang="pl-PL" dirty="0">
              <a:solidFill>
                <a:schemeClr val="bg2"/>
              </a:solidFill>
            </a:endParaRPr>
          </a:p>
        </p:txBody>
      </p:sp>
      <p:grpSp>
        <p:nvGrpSpPr>
          <p:cNvPr id="14" name="Grupa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Prostokąt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6" name="Prostokąt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  <p:sp>
          <p:nvSpPr>
            <p:cNvPr id="17" name="Prostokąt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l-PL"/>
            </a:p>
          </p:txBody>
        </p:sp>
      </p:grpSp>
      <p:sp>
        <p:nvSpPr>
          <p:cNvPr id="4" name="pole tekstowe 3">
            <a:extLst>
              <a:ext uri="{FF2B5EF4-FFF2-40B4-BE49-F238E27FC236}">
                <a16:creationId xmlns:a16="http://schemas.microsoft.com/office/drawing/2014/main" id="{5820A217-855F-170E-87DA-3732D8AB48D3}"/>
              </a:ext>
            </a:extLst>
          </p:cNvPr>
          <p:cNvSpPr txBox="1"/>
          <p:nvPr/>
        </p:nvSpPr>
        <p:spPr>
          <a:xfrm>
            <a:off x="8260061" y="4849765"/>
            <a:ext cx="300867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100" dirty="0">
                <a:solidFill>
                  <a:schemeClr val="bg1"/>
                </a:solidFill>
              </a:rPr>
              <a:t>Radomski Łukasz</a:t>
            </a:r>
          </a:p>
          <a:p>
            <a:r>
              <a:rPr lang="pl-PL" sz="1100" dirty="0">
                <a:solidFill>
                  <a:schemeClr val="bg1"/>
                </a:solidFill>
              </a:rPr>
              <a:t>Ulicka Alicja</a:t>
            </a:r>
          </a:p>
          <a:p>
            <a:r>
              <a:rPr lang="pl-PL" sz="1100" dirty="0">
                <a:solidFill>
                  <a:schemeClr val="bg1"/>
                </a:solidFill>
              </a:rPr>
              <a:t>Pszczółkowski Piotr</a:t>
            </a:r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ywidend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A0CF3B2-1F0F-4FC5-8002-3E4869AB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69AFF4-BB30-4BA0-AD22-82CC3C432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BC12AA-1C15-4500-BC9C-8EE83A441D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Technologia — projekt Dywidenda</Template>
  <TotalTime>66</TotalTime>
  <Words>2351</Words>
  <Application>Microsoft Office PowerPoint</Application>
  <PresentationFormat>Panoramiczny</PresentationFormat>
  <Paragraphs>111</Paragraphs>
  <Slides>22</Slides>
  <Notes>22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22</vt:i4>
      </vt:variant>
    </vt:vector>
  </HeadingPairs>
  <TitlesOfParts>
    <vt:vector size="30" baseType="lpstr">
      <vt:lpstr>Abadi ExtraLight</vt:lpstr>
      <vt:lpstr>Amasis MT Pro Light</vt:lpstr>
      <vt:lpstr>Arial</vt:lpstr>
      <vt:lpstr>Calibri</vt:lpstr>
      <vt:lpstr>Gill Sans MT</vt:lpstr>
      <vt:lpstr>Wingdings</vt:lpstr>
      <vt:lpstr>Wingdings 2</vt:lpstr>
      <vt:lpstr>Dywidenda</vt:lpstr>
      <vt:lpstr>Instytucjonalne aspekty konkurencyjności</vt:lpstr>
      <vt:lpstr>Wprowadzenie</vt:lpstr>
      <vt:lpstr>Profil firm</vt:lpstr>
      <vt:lpstr>Segmenty rynkowe i portfolio produktowe</vt:lpstr>
      <vt:lpstr>Segmenty rynkowe i portfolio produktowe</vt:lpstr>
      <vt:lpstr>Segmenty rynkowe i portfolio produktowe</vt:lpstr>
      <vt:lpstr>Strategie konkurencyjne i technologiczne</vt:lpstr>
      <vt:lpstr>Wydajność i cena</vt:lpstr>
      <vt:lpstr>Innowacje  technologiczne</vt:lpstr>
      <vt:lpstr>Obecna strategia rynkowa</vt:lpstr>
      <vt:lpstr>Wyniki finansowe i udziały rynkowe</vt:lpstr>
      <vt:lpstr>Przychody i zyski</vt:lpstr>
      <vt:lpstr>Udziały rynkowe cpu</vt:lpstr>
      <vt:lpstr>Inne segmenty</vt:lpstr>
      <vt:lpstr>Łancuch dostaw i produkcja</vt:lpstr>
      <vt:lpstr>Model produkcji</vt:lpstr>
      <vt:lpstr>Wpływ globalny</vt:lpstr>
      <vt:lpstr>PARTNERSTWA STRATEGICZNE I EKOSYSTEM</vt:lpstr>
      <vt:lpstr>Przewagi konkurencyjne i wyzwania</vt:lpstr>
      <vt:lpstr>Przewaga konkurencyjna i wyzwania</vt:lpstr>
      <vt:lpstr>Podsumowanie i wnioski</vt:lpstr>
      <vt:lpstr>Dziękujemy!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Łukasz Radomski</dc:creator>
  <cp:lastModifiedBy>Łukasz Radomski</cp:lastModifiedBy>
  <cp:revision>1</cp:revision>
  <dcterms:created xsi:type="dcterms:W3CDTF">2026-03-22T18:34:18Z</dcterms:created>
  <dcterms:modified xsi:type="dcterms:W3CDTF">2026-03-27T10:24:52Z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